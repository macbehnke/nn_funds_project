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6ca95d90524744" /><Relationship Type="http://schemas.openxmlformats.org/officeDocument/2006/relationships/extended-properties" Target="/docProps/app.xml" Id="Ra51f421980bb4148" /><Relationship Type="http://schemas.openxmlformats.org/officeDocument/2006/relationships/officeDocument" Target="/ppt/presentation.xml" Id="R5360685d7b9e44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7e70377ee14718"/>
  </p:sldMasterIdLst>
  <p:notesMasterIdLst>
    <p:notesMasterId xmlns:r="http://schemas.openxmlformats.org/officeDocument/2006/relationships" r:id="Rc7ad4b66c07d48fc"/>
  </p:notesMasterIdLst>
  <p:sldIdLst>
    <p:sldId xmlns:r="http://schemas.openxmlformats.org/officeDocument/2006/relationships" id="256" r:id="R1b1f351ef2914bae"/>
    <p:sldId xmlns:r="http://schemas.openxmlformats.org/officeDocument/2006/relationships" id="257" r:id="R48757925cba94c8f"/>
    <p:sldId xmlns:r="http://schemas.openxmlformats.org/officeDocument/2006/relationships" id="258" r:id="R3d5b03e4079a4658"/>
    <p:sldId xmlns:r="http://schemas.openxmlformats.org/officeDocument/2006/relationships" id="259" r:id="Raa1cc82abcae4a2e"/>
    <p:sldId xmlns:r="http://schemas.openxmlformats.org/officeDocument/2006/relationships" id="260" r:id="R8482e4594a85487f"/>
    <p:sldId xmlns:r="http://schemas.openxmlformats.org/officeDocument/2006/relationships" id="261" r:id="R4b8d3f3d88f04e90"/>
    <p:sldId xmlns:r="http://schemas.openxmlformats.org/officeDocument/2006/relationships" id="262" r:id="R001421b68e95499e"/>
    <p:sldId xmlns:r="http://schemas.openxmlformats.org/officeDocument/2006/relationships" id="263" r:id="R7d15c38258094f09"/>
    <p:sldId xmlns:r="http://schemas.openxmlformats.org/officeDocument/2006/relationships" id="264" r:id="Rc5525b87f0084924"/>
    <p:sldId xmlns:r="http://schemas.openxmlformats.org/officeDocument/2006/relationships" id="265" r:id="R3e9a32c13157492e"/>
    <p:sldId xmlns:r="http://schemas.openxmlformats.org/officeDocument/2006/relationships" id="266" r:id="R7422282205c4442a"/>
    <p:sldId xmlns:r="http://schemas.openxmlformats.org/officeDocument/2006/relationships" id="267" r:id="Ra9d84917ffe8418a"/>
    <p:sldId xmlns:r="http://schemas.openxmlformats.org/officeDocument/2006/relationships" id="268" r:id="Rcd0e25d576024b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65f5d2974c43ec" /><Relationship Type="http://schemas.openxmlformats.org/officeDocument/2006/relationships/slideMaster" Target="/ppt/slideMasters/slideMaster1.xml" Id="Rcc7e70377ee14718" /><Relationship Type="http://schemas.openxmlformats.org/officeDocument/2006/relationships/notesMaster" Target="/ppt/notesMasters/notesMaster1.xml" Id="Rc7ad4b66c07d48fc" /><Relationship Type="http://schemas.openxmlformats.org/officeDocument/2006/relationships/presProps" Target="/ppt/presProps.xml" Id="R244b1b5ecd614d29" /><Relationship Type="http://schemas.openxmlformats.org/officeDocument/2006/relationships/tableStyles" Target="/ppt/tableStyles.xml" Id="R117d49027d8e4ed4" /><Relationship Type="http://schemas.openxmlformats.org/officeDocument/2006/relationships/slide" Target="/ppt/slides/slide1.xml" Id="R1b1f351ef2914bae" /><Relationship Type="http://schemas.openxmlformats.org/officeDocument/2006/relationships/slide" Target="/ppt/slides/slide2.xml" Id="R48757925cba94c8f" /><Relationship Type="http://schemas.openxmlformats.org/officeDocument/2006/relationships/slide" Target="/ppt/slides/slide3.xml" Id="R3d5b03e4079a4658" /><Relationship Type="http://schemas.openxmlformats.org/officeDocument/2006/relationships/slide" Target="/ppt/slides/slide4.xml" Id="Raa1cc82abcae4a2e" /><Relationship Type="http://schemas.openxmlformats.org/officeDocument/2006/relationships/slide" Target="/ppt/slides/slide5.xml" Id="R8482e4594a85487f" /><Relationship Type="http://schemas.openxmlformats.org/officeDocument/2006/relationships/slide" Target="/ppt/slides/slide6.xml" Id="R4b8d3f3d88f04e90" /><Relationship Type="http://schemas.openxmlformats.org/officeDocument/2006/relationships/slide" Target="/ppt/slides/slide7.xml" Id="R001421b68e95499e" /><Relationship Type="http://schemas.openxmlformats.org/officeDocument/2006/relationships/slide" Target="/ppt/slides/slide8.xml" Id="R7d15c38258094f09" /><Relationship Type="http://schemas.openxmlformats.org/officeDocument/2006/relationships/slide" Target="/ppt/slides/slide9.xml" Id="Rc5525b87f0084924" /><Relationship Type="http://schemas.openxmlformats.org/officeDocument/2006/relationships/slide" Target="/ppt/slides/slide10.xml" Id="R3e9a32c13157492e" /><Relationship Type="http://schemas.openxmlformats.org/officeDocument/2006/relationships/slide" Target="/ppt/slides/slide11.xml" Id="R7422282205c4442a" /><Relationship Type="http://schemas.openxmlformats.org/officeDocument/2006/relationships/slide" Target="/ppt/slides/slide12.xml" Id="Ra9d84917ffe8418a" /><Relationship Type="http://schemas.openxmlformats.org/officeDocument/2006/relationships/slide" Target="/ppt/slides/slide13.xml" Id="Rcd0e25d576024b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33cf628e0a4b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8bd1a190434cf0" /><Relationship Type="http://schemas.openxmlformats.org/officeDocument/2006/relationships/notesMaster" Target="/ppt/notesMasters/notesMaster1.xml" Id="R96b193f5b68c41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32a2c18abd46ca" /><Relationship Type="http://schemas.openxmlformats.org/officeDocument/2006/relationships/notesMaster" Target="/ppt/notesMasters/notesMaster1.xml" Id="R7340681b2d5c43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6b7275db7d4915" /><Relationship Type="http://schemas.openxmlformats.org/officeDocument/2006/relationships/notesMaster" Target="/ppt/notesMasters/notesMaster1.xml" Id="Rd151339eca4a42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35ecb639f940b9" /><Relationship Type="http://schemas.openxmlformats.org/officeDocument/2006/relationships/notesMaster" Target="/ppt/notesMasters/notesMaster1.xml" Id="Rbdcb692077c74e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c83f80fb504dac" /><Relationship Type="http://schemas.openxmlformats.org/officeDocument/2006/relationships/notesMaster" Target="/ppt/notesMasters/notesMaster1.xml" Id="Rd7c61152a5ec48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24fe80a62247b3" /><Relationship Type="http://schemas.openxmlformats.org/officeDocument/2006/relationships/notesMaster" Target="/ppt/notesMasters/notesMaster1.xml" Id="R122f822361124f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b1a6b7f73d4324" /><Relationship Type="http://schemas.openxmlformats.org/officeDocument/2006/relationships/notesMaster" Target="/ppt/notesMasters/notesMaster1.xml" Id="Rd492308a60d048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2dae0ad2b74099" /><Relationship Type="http://schemas.openxmlformats.org/officeDocument/2006/relationships/notesMaster" Target="/ppt/notesMasters/notesMaster1.xml" Id="R0c871e66636d4f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223006c0c84d69" /><Relationship Type="http://schemas.openxmlformats.org/officeDocument/2006/relationships/notesMaster" Target="/ppt/notesMasters/notesMaster1.xml" Id="R7458af8d60f34c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121c0a0f8e4764" /><Relationship Type="http://schemas.openxmlformats.org/officeDocument/2006/relationships/notesMaster" Target="/ppt/notesMasters/notesMaster1.xml" Id="R1185b0bab61e40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c40b593a1744cf" /><Relationship Type="http://schemas.openxmlformats.org/officeDocument/2006/relationships/notesMaster" Target="/ppt/notesMasters/notesMaster1.xml" Id="Re3d981b4da6848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eb996079ad4ebf" /><Relationship Type="http://schemas.openxmlformats.org/officeDocument/2006/relationships/notesMaster" Target="/ppt/notesMasters/notesMaster1.xml" Id="R85bca5ba45f54e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05694bd00d4a5d" /><Relationship Type="http://schemas.openxmlformats.org/officeDocument/2006/relationships/notesMaster" Target="/ppt/notesMasters/notesMaster1.xml" Id="R525291c2aefa4d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6a071d53e40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d3128487e24d57" /><Relationship Type="http://schemas.openxmlformats.org/officeDocument/2006/relationships/slideLayout" Target="/ppt/slideLayouts/slideLayout1.xml" Id="R9332254041c846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32254041c846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c69b0c26a462c" /><Relationship Type="http://schemas.openxmlformats.org/officeDocument/2006/relationships/notesSlide" Target="/ppt/notesSlides/notesSlide1.xml" Id="R0b250cbfcc6f4d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1b6047934425f" /><Relationship Type="http://schemas.openxmlformats.org/officeDocument/2006/relationships/image" Target="/ppt/media/image.png" Id="Re59c0154d43141eb" /><Relationship Type="http://schemas.openxmlformats.org/officeDocument/2006/relationships/notesSlide" Target="/ppt/notesSlides/notesSlide2.xml" Id="R6f7394528e2f43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008fd21c84e2c" /><Relationship Type="http://schemas.openxmlformats.org/officeDocument/2006/relationships/notesSlide" Target="/ppt/notesSlides/notesSlide3.xml" Id="Ra2c13001f8d24a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99c858c7f49ab" /><Relationship Type="http://schemas.openxmlformats.org/officeDocument/2006/relationships/notesSlide" Target="/ppt/notesSlides/notesSlide4.xml" Id="R7db82037d84446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9e60cfb7e4091" /><Relationship Type="http://schemas.openxmlformats.org/officeDocument/2006/relationships/notesSlide" Target="/ppt/notesSlides/notesSlide5.xml" Id="Rbace2fc9c90243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1bbe1b47b433e" /><Relationship Type="http://schemas.openxmlformats.org/officeDocument/2006/relationships/notesSlide" Target="/ppt/notesSlides/notesSlide6.xml" Id="R5b1e43ef77f24d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6db5234024c4a" /><Relationship Type="http://schemas.openxmlformats.org/officeDocument/2006/relationships/image" Target="/ppt/media/image2.png" Id="Rbd22ba7118294e99" /><Relationship Type="http://schemas.openxmlformats.org/officeDocument/2006/relationships/notesSlide" Target="/ppt/notesSlides/notesSlide7.xml" Id="Rb5c715e33aad43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45e708e2c405f" /><Relationship Type="http://schemas.openxmlformats.org/officeDocument/2006/relationships/image" Target="/ppt/media/image3.png" Id="R22b215d1aa344534" /><Relationship Type="http://schemas.openxmlformats.org/officeDocument/2006/relationships/notesSlide" Target="/ppt/notesSlides/notesSlide8.xml" Id="R9da0522500f348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688527a304183" /><Relationship Type="http://schemas.openxmlformats.org/officeDocument/2006/relationships/image" Target="/ppt/media/image4.png" Id="R19d2d0dc8a5d4fdb" /><Relationship Type="http://schemas.openxmlformats.org/officeDocument/2006/relationships/notesSlide" Target="/ppt/notesSlides/notesSlide9.xml" Id="Rdbf7dbe1145e4c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2c2cdf3684434" /><Relationship Type="http://schemas.openxmlformats.org/officeDocument/2006/relationships/notesSlide" Target="/ppt/notesSlides/notesSlide10.xml" Id="Rdb9ea14a535843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638dc1de643ca" /><Relationship Type="http://schemas.openxmlformats.org/officeDocument/2006/relationships/notesSlide" Target="/ppt/notesSlides/notesSlide11.xml" Id="Re2ad2bd7438a41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0542badaa4456" /><Relationship Type="http://schemas.openxmlformats.org/officeDocument/2006/relationships/notesSlide" Target="/ppt/notesSlides/notesSlide12.xml" Id="Re5f4384f8f054c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bc47e8cea4ce4" /><Relationship Type="http://schemas.openxmlformats.org/officeDocument/2006/relationships/notesSlide" Target="/ppt/notesSlides/notesSlide13.xml" Id="R44021e37da7744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55CD0A-D5A9-4B85-B7B3-12E94A22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76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A0A"/>
                </a:solidFill>
              </a:defRPr>
            </a:pPr>
            <a:r>
              <a:rPr sz="4350" b="1">
                <a:solidFill>
                  <a:srgbClr val="0A0A0A"/>
                </a:solidFill>
              </a:rPr>
              <a:t>LeNet-5 on MNIST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9D10A-1153-470C-9988-E6CFEB7C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Reproducing a classic CNN baseline and comparing it with modern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3FEFC-7D6A-4DD8-AEAE-1C2F0ABA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2457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0D7F7-E8E7-4D4F-A1C4-8569BEA8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7D55"/>
                </a:solidFill>
              </a:defRPr>
            </a:pPr>
            <a:r>
              <a:rPr sz="3750" b="1">
                <a:solidFill>
                  <a:srgbClr val="2F7D55"/>
                </a:solidFill>
              </a:rPr>
              <a:t>98.83%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6533B-330E-4EF1-A560-BCF6B773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test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710D4-AE2B-4D07-B78D-25DE28A8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52850"/>
            <a:ext cx="2457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CE256-0E07-43B0-97EA-F21979B5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243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0A0A"/>
                </a:solidFill>
              </a:defRPr>
            </a:pPr>
            <a:r>
              <a:rPr sz="3750" b="1">
                <a:solidFill>
                  <a:srgbClr val="0A0A0A"/>
                </a:solidFill>
              </a:rPr>
              <a:t>61,706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CCF64-3ADF-42C5-8579-ECA4309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101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trainable 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F6197-9107-4B88-8D10-E61C4597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52850"/>
            <a:ext cx="2457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A067E-8BA4-4CF5-8D5C-46FE13F1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E6F9E"/>
                </a:solidFill>
              </a:defRPr>
            </a:pPr>
            <a:r>
              <a:rPr sz="3750" b="1">
                <a:solidFill>
                  <a:srgbClr val="2E6F9E"/>
                </a:solidFill>
              </a:rPr>
              <a:t>16.81s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D885D-0E06-449B-B6D2-FFC8EBE7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CPU training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EA5EF-7039-4937-AEEA-71CEAFDE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Neural Networks Fundamentals | Project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DA5A0-348C-41F3-A32D-FA1A9452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1</a:t>
            </a:r>
          </a:p>
        </p:txBody>
      </p:sp>
    </p:spTree>
    <p:extLst>
      <p:ext uri="{BB962C8B-B14F-4D97-AF65-F5344CB8AC3E}">
        <p14:creationId xmlns:p14="http://schemas.microsoft.com/office/powerpoint/2010/main" val="1254854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1CED8B-DB99-4855-994F-88244EFA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The task is simple enough to reveal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F153C-4417-4667-810B-B76716A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MNIST removes most data-engineering noise, so the architecture and training choices are easy to inspect.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69339-8A9C-4F81-AE25-B5A03792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E5015-7075-499C-8EC1-BE4EBE43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3EE13-4162-4A64-B713-BB6ED0B2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</a:defRPr>
            </a:pPr>
            <a:r>
              <a:rPr sz="1800" b="0">
                <a:solidFill>
                  <a:srgbClr val="0A0A0A"/>
                </a:solidFill>
              </a:rPr>
              <a:t>Input: centered grayscale handwritten digit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967BC-9F47-471B-9B92-69DB8E76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383C2-96B5-465A-AA30-2ACBD105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</a:defRPr>
            </a:pPr>
            <a:r>
              <a:rPr sz="1800" b="0">
                <a:solidFill>
                  <a:srgbClr val="0A0A0A"/>
                </a:solidFill>
              </a:rPr>
              <a:t>Output: one of ten classes, 0 through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0C404-BADA-47DB-A7D6-A1DF8781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06EAD-5337-4DBD-A37D-CB4DBB06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</a:defRPr>
            </a:pPr>
            <a:r>
              <a:rPr sz="1800" b="0">
                <a:solidFill>
                  <a:srgbClr val="0A0A0A"/>
                </a:solidFill>
              </a:rPr>
              <a:t>Dataset: 60,000 train images and 10,000 test images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A3A4D-EC4B-4333-A786-AF7941CA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BDC4F-3610-43D9-8B75-C1CF0CF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</a:defRPr>
            </a:pPr>
            <a:r>
              <a:rPr sz="1800" b="0">
                <a:solidFill>
                  <a:srgbClr val="0A0A0A"/>
                </a:solidFill>
              </a:rPr>
              <a:t>Project goal: reproduce LeNet-style CNN behavior cleanly and reproducibly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c0154d43141eb"/>
          <a:stretch xmlns:a="http://schemas.openxmlformats.org/drawingml/2006/main"/>
        </p:blipFill>
        <p:spPr>
          <a:xfrm xmlns:a="http://schemas.openxmlformats.org/drawingml/2006/main">
            <a:off x="6858000" y="22669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716EC-C205-477D-B977-4DE1D5A8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864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final demo loads the checkpoint and predicts a held-out MNIST digit.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4CCCF-DD09-4A48-968F-08FEF3F0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2</a:t>
            </a:r>
          </a:p>
        </p:txBody>
      </p:sp>
    </p:spTree>
    <p:extLst>
      <p:ext uri="{BB962C8B-B14F-4D97-AF65-F5344CB8AC3E}">
        <p14:creationId xmlns:p14="http://schemas.microsoft.com/office/powerpoint/2010/main" val="1297525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084E85-ADCC-469C-B115-C1EA8AA0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LeNet-5 is small, structured, and still instructive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8C8AD-8BB8-4768-BC19-24CCC2E2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network uses local filters, pooling, and a compact classifier instead of dense connections over all pixels.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6FC14-47F1-43F5-9478-BA06E7D3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41C74-5A9E-44EA-9B7C-32A49BE5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33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6E893-BE4A-44A8-8BD8-1FD52118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0A0A"/>
                </a:solidFill>
              </a:defRPr>
            </a:pPr>
            <a:r>
              <a:rPr sz="1725" b="1">
                <a:solidFill>
                  <a:srgbClr val="0A0A0A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8C239-B4EF-417B-A885-C3BEC293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1x28x28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0EF12-1821-4A8B-84F6-1DAC357E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9087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5740F-7669-4AF9-A33B-F6BC4644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00350"/>
            <a:ext cx="133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07CE9-29CA-4D7F-98D3-32AA9DC0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099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0A0A"/>
                </a:solidFill>
              </a:defRPr>
            </a:pPr>
            <a:r>
              <a:rPr sz="1725" b="1">
                <a:solidFill>
                  <a:srgbClr val="0A0A0A"/>
                </a:solidFill>
              </a:rPr>
              <a:t>Conv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1F691-46EE-4142-984D-8DCDD628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90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6 maps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D542F-0E5D-4DCE-95A6-5DEEBE29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9087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A6A34-D9F0-4BC8-889A-EBDDCAF2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133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24B07-3952-4041-A6A3-FD3A0A6A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099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0A0A"/>
                </a:solidFill>
              </a:defRPr>
            </a:pPr>
            <a:r>
              <a:rPr sz="1725" b="1">
                <a:solidFill>
                  <a:srgbClr val="0A0A0A"/>
                </a:solidFill>
              </a:rPr>
              <a:t>Avg pool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99D41-CF6A-434D-8DCC-24802CA7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90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2x2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4C823-56E7-4DAD-93AE-552CF818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9087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887E9-006D-4671-BDF6-CFE4A713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33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C8774-EA24-4AF0-8322-9D194A78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99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0A0A"/>
                </a:solidFill>
              </a:defRPr>
            </a:pPr>
            <a:r>
              <a:rPr sz="1725" b="1">
                <a:solidFill>
                  <a:srgbClr val="0A0A0A"/>
                </a:solidFill>
              </a:rPr>
              <a:t>Conv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6CDED-2AA5-4CD7-9F75-EC446090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90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16 maps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3C4A0-C6DC-48F9-AE36-2F14169F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9087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C94F8-76A6-4648-8FEC-87569110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133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98A16-B5BE-4E5F-8F99-9553E646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0A0A"/>
                </a:solidFill>
              </a:defRPr>
            </a:pPr>
            <a:r>
              <a:rPr sz="1725" b="1">
                <a:solidFill>
                  <a:srgbClr val="0A0A0A"/>
                </a:solidFill>
              </a:rPr>
              <a:t>Avg pool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7930F-3E12-4575-A36F-FB388416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2x2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A76E9-3359-4A13-AD9C-28332141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9087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96162-4F81-4CBF-8D36-EAA8F126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133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1505B-C229-460E-B2C5-C43F0BA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0A0A"/>
                </a:solidFill>
              </a:defRPr>
            </a:pPr>
            <a:r>
              <a:rPr sz="1725" b="1">
                <a:solidFill>
                  <a:srgbClr val="0A0A0A"/>
                </a:solidFill>
              </a:rPr>
              <a:t>Dense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66392-2E0D-4365-8C5A-ACB41C94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120, 84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17AC6-3538-41AF-890C-89B32BBA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190875"/>
            <a:ext cx="323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AAEC1E-57E1-4C3A-93B9-BF01A1E7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0350"/>
            <a:ext cx="133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48D4A9-6F0D-4F0F-8B87-26659E8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99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0A0A"/>
                </a:solidFill>
              </a:defRPr>
            </a:pPr>
            <a:r>
              <a:rPr sz="1725" b="1">
                <a:solidFill>
                  <a:srgbClr val="0A0A0A"/>
                </a:solidFill>
              </a:rPr>
              <a:t>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50AE8E-D1CC-4CBB-9B7B-08F00E5A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90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10 digits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C36F3-AB35-438B-94AF-9A459847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A0A0A"/>
                </a:solidFill>
              </a:defRPr>
            </a:pPr>
            <a:r>
              <a:rPr sz="1875" b="0">
                <a:solidFill>
                  <a:srgbClr val="0A0A0A"/>
                </a:solidFill>
              </a:rPr>
              <a:t>Visible layer sizes follow the classic LeNet-5 shape: two convolutional stages, then 120 and 84 hidden units before the 10-way classifier.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5C9984-4958-4F91-90DE-0F0E47D7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3</a:t>
            </a:r>
          </a:p>
        </p:txBody>
      </p:sp>
    </p:spTree>
    <p:extLst>
      <p:ext uri="{BB962C8B-B14F-4D97-AF65-F5344CB8AC3E}">
        <p14:creationId xmlns:p14="http://schemas.microsoft.com/office/powerpoint/2010/main" val="1937458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6F629-46AD-497F-8415-4FF3E550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We kept the historical shape but used modern training defaults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C536D-0D7F-4015-A215-E673AA6E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implementation is faithful as a teaching reproduction, not an exact historical reconstruction.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8B126-B107-4C12-88BA-3A7097C9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C33BD-DC52-404E-9432-53BCD0AE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33EFA-42D0-43D0-A5C1-CFD8BC0E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A0A0A"/>
                </a:solidFill>
              </a:defRPr>
            </a:pPr>
            <a:r>
              <a:rPr sz="2175" b="1">
                <a:solidFill>
                  <a:srgbClr val="0A0A0A"/>
                </a:solidFill>
              </a:rPr>
              <a:t>Kept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AFCE1-2A6B-44CF-8B81-6DAB5FDD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574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</a:defRPr>
            </a:pPr>
            <a:r>
              <a:rPr sz="1800" b="0">
                <a:solidFill>
                  <a:srgbClr val="0A0A0A"/>
                </a:solidFill>
              </a:rPr>
              <a:t>5x5 convolutions, tanh activations, average pooling, 120 and 84 hidden units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DD550-9024-4837-A6E6-2854EAC0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549DF-82A5-4BDF-8B32-049E0513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A0A0A"/>
                </a:solidFill>
              </a:defRPr>
            </a:pPr>
            <a:r>
              <a:rPr sz="2175" b="1">
                <a:solidFill>
                  <a:srgbClr val="0A0A0A"/>
                </a:solidFill>
              </a:rPr>
              <a:t>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2DDD0-A3AC-4E3A-8BE9-C1C85BA3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</a:defRPr>
            </a:pPr>
            <a:r>
              <a:rPr sz="1800" b="0">
                <a:solidFill>
                  <a:srgbClr val="0A0A0A"/>
                </a:solidFill>
              </a:rPr>
              <a:t>28x28 inputs, dense second convolution, linear output layer, cross-entropy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7E70E-7F32-46B5-B830-CE7215C9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F4C0E-297C-4A77-92BF-88814411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A0A0A"/>
                </a:solidFill>
              </a:defRPr>
            </a:pPr>
            <a:r>
              <a:rPr sz="2175" b="1">
                <a:solidFill>
                  <a:srgbClr val="0A0A0A"/>
                </a:solidFill>
              </a:rPr>
              <a:t>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F4E6D-0E93-4B22-893A-AD352D91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05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A0A"/>
                </a:solidFill>
              </a:defRPr>
            </a:pPr>
            <a:r>
              <a:rPr sz="1800" b="0">
                <a:solidFill>
                  <a:srgbClr val="0A0A0A"/>
                </a:solidFill>
              </a:rPr>
              <a:t>Modern PyTorch conventions make the run shorter, clearer, and easier to reproduce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3060C-F71E-4B2B-94F1-8AD3F7EA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4</a:t>
            </a:r>
          </a:p>
        </p:txBody>
      </p:sp>
    </p:spTree>
    <p:extLst>
      <p:ext uri="{BB962C8B-B14F-4D97-AF65-F5344CB8AC3E}">
        <p14:creationId xmlns:p14="http://schemas.microsoft.com/office/powerpoint/2010/main" val="7843251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905FC2-EF76-4EFE-B965-EA306C37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The training run is deliberately reproducible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0B68D-D341-4AC7-9714-E8E279A6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final reported run uses a fixed seed and saves the best validation checkpoint.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4E4DF-5CA9-43F0-B9CF-778B3F3B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61725-8310-4270-B3DB-4B60C5E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382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16822-CA1D-4F65-877B-0E1A6418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0A0A"/>
                </a:solidFill>
              </a:defRPr>
            </a:pPr>
            <a:r>
              <a:rPr sz="3750" b="1">
                <a:solidFill>
                  <a:srgbClr val="0A0A0A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34FA2-9DDF-49D0-880B-B8BF4D33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epochs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F7CE2-CDB7-4A4A-AEF7-893BD8F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0A0A"/>
                </a:solidFill>
              </a:defRPr>
            </a:pPr>
            <a:r>
              <a:rPr sz="3750" b="1">
                <a:solidFill>
                  <a:srgbClr val="0A0A0A"/>
                </a:solidFill>
              </a:rPr>
              <a:t>128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148A1-7B29-4250-AB8D-FCDF5C6B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48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batch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40971-71ED-401D-9C9A-FE9AB6AA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622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0A0A"/>
                </a:solidFill>
              </a:defRPr>
            </a:pPr>
            <a:r>
              <a:rPr sz="3750" b="1">
                <a:solidFill>
                  <a:srgbClr val="0A0A0A"/>
                </a:solidFill>
              </a:rPr>
              <a:t>0.001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AAB38-8D02-4E5B-A7C8-FD1C0AB0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480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learning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91DC0-B60A-4D7D-B5DA-21C19FA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0A0A"/>
                </a:solidFill>
              </a:defRPr>
            </a:pPr>
            <a:r>
              <a:rPr sz="3750" b="1">
                <a:solidFill>
                  <a:srgbClr val="0A0A0A"/>
                </a:solidFill>
              </a:rPr>
              <a:t>5,000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B2216-20C8-497C-B9A2-ED99BCB4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validation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15BC1-F0A9-4BAA-A56A-F6EA1E4A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A0A0A"/>
                </a:solidFill>
              </a:defRPr>
            </a:pPr>
            <a:r>
              <a:rPr sz="1950" b="0">
                <a:solidFill>
                  <a:srgbClr val="0A0A0A"/>
                </a:solidFill>
              </a:rPr>
              <a:t>Optimizer: Adam | Loss: cross-entropy | Seed: 42 | Device used in final run: CPU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82017-FAC5-46E6-93F5-189CD897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5</a:t>
            </a:r>
          </a:p>
        </p:txBody>
      </p:sp>
    </p:spTree>
    <p:extLst>
      <p:ext uri="{BB962C8B-B14F-4D97-AF65-F5344CB8AC3E}">
        <p14:creationId xmlns:p14="http://schemas.microsoft.com/office/powerpoint/2010/main" val="650054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C4CADE-CE36-41DA-9A63-17B459AD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The small CNN reaches high accuracy in seconds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16DE7-5080-4E30-80E3-CE1402E5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Final cluster run results from outputs/metrics.json.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51FD3-589B-4629-9A64-FFAD59B5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21721-5289-446B-97A5-1B2392B7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7D55"/>
                </a:solidFill>
              </a:defRPr>
            </a:pPr>
            <a:r>
              <a:rPr sz="3750" b="1">
                <a:solidFill>
                  <a:srgbClr val="2F7D55"/>
                </a:solidFill>
              </a:rPr>
              <a:t>98.68%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E5C8A-E1BF-4D2B-8538-FE534E0B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best validation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76800-50EE-43E3-818E-E4A6ECDC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7D55"/>
                </a:solidFill>
              </a:defRPr>
            </a:pPr>
            <a:r>
              <a:rPr sz="3750" b="1">
                <a:solidFill>
                  <a:srgbClr val="2F7D55"/>
                </a:solidFill>
              </a:rPr>
              <a:t>98.83%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F6D88-C4A3-4279-B493-625DCC75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test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A54F1-BA30-4D1B-89C9-50E81765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384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6B35"/>
                </a:solidFill>
              </a:defRPr>
            </a:pPr>
            <a:r>
              <a:rPr sz="3750" b="1">
                <a:solidFill>
                  <a:srgbClr val="FF6B35"/>
                </a:solidFill>
              </a:rPr>
              <a:t>1.17%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F4A5E-710D-4B9A-8C4F-320E10B7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test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5A499-C00E-4A40-9A46-5B7C9238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962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938CC-A002-444F-A718-EAB5A5D9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A0A0A"/>
                </a:solidFill>
              </a:defRPr>
            </a:pPr>
            <a:r>
              <a:rPr sz="1875" b="0">
                <a:solidFill>
                  <a:srgbClr val="0A0A0A"/>
                </a:solidFill>
              </a:rPr>
              <a:t>This satisfies the course feasibility constraint comfortably: the full final run trained end-to-end on CPU in 16.81 seconds.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B59CE-2A5F-4C96-BBF1-FCCECA66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6</a:t>
            </a:r>
          </a:p>
        </p:txBody>
      </p:sp>
    </p:spTree>
    <p:extLst>
      <p:ext uri="{BB962C8B-B14F-4D97-AF65-F5344CB8AC3E}">
        <p14:creationId xmlns:p14="http://schemas.microsoft.com/office/powerpoint/2010/main" val="16281402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EB1CBC-C6B3-4CEA-9648-1A46E8A5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Training is stable and mostly converged after eight epochs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26AD3-01DB-48F9-9508-19DA4B61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Loss continues to improve while validation accuracy plateaus near 98.7%.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3DBD6-4DCA-4A23-AEF3-64CA75E2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2ba7118294e99"/>
          <a:stretch xmlns:a="http://schemas.openxmlformats.org/drawingml/2006/main"/>
        </p:blipFill>
        <p:spPr>
          <a:xfrm xmlns:a="http://schemas.openxmlformats.org/drawingml/2006/main">
            <a:off x="1650206" y="2095500"/>
            <a:ext cx="8358188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2E8C0-2525-4B55-85BB-0D17D272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7</a:t>
            </a:r>
          </a:p>
        </p:txBody>
      </p:sp>
    </p:spTree>
    <p:extLst>
      <p:ext uri="{BB962C8B-B14F-4D97-AF65-F5344CB8AC3E}">
        <p14:creationId xmlns:p14="http://schemas.microsoft.com/office/powerpoint/2010/main" val="6315422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F008F-CA67-46D2-8C1E-43B2BFC7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Most errors are rare and concentrated among similar digits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00749-1849-4F0A-BD28-AC0F54DC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confusion matrix shows strong diagonal performance across all ten classes.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00B97-C5A2-4775-A8E1-8EDC2747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215d1aa344534"/>
          <a:stretch xmlns:a="http://schemas.openxmlformats.org/drawingml/2006/main"/>
        </p:blipFill>
        <p:spPr>
          <a:xfrm xmlns:a="http://schemas.openxmlformats.org/drawingml/2006/main">
            <a:off x="1765300" y="2000250"/>
            <a:ext cx="48895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B0C9A-E0E8-4A10-9E57-0A56FE6D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F2C23-4B12-44B7-AF15-C51E9F9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Most predictions lie on the diagonal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11D6D-F761-4709-8193-37A8617C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A0EDB-F965-437F-8368-422E24F4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432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Remaining mistakes are sparse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D7169-F497-45EA-A999-D8CEC9BC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95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063BB-C583-446C-BF87-73ADFD58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004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Errors usually involve similar digit shapes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7D1FC-97D7-40C0-8082-AFC9E21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52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CEE2F-FDF4-4FA5-9335-7E9D9C9B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576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Accuracy alone still does not prove robustness on real handwriting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46A87-713A-4FBE-BB7A-573A6916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8</a:t>
            </a:r>
          </a:p>
        </p:txBody>
      </p:sp>
    </p:spTree>
    <p:extLst>
      <p:ext uri="{BB962C8B-B14F-4D97-AF65-F5344CB8AC3E}">
        <p14:creationId xmlns:p14="http://schemas.microsoft.com/office/powerpoint/2010/main" val="20813448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2329DD-E2C4-4F73-8EA6-FC48E9AD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The failure cases are visually plausible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F3A26-2D28-4BF6-B260-06D3A165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Misclassified examples usually have ambiguous strokes, unusual centering, or digit shapes close to another class.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AFC8F-6C4E-4D0D-BF8F-0AA05AD9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2d0dc8a5d4fdb"/>
          <a:stretch xmlns:a="http://schemas.openxmlformats.org/drawingml/2006/main"/>
        </p:blipFill>
        <p:spPr>
          <a:xfrm xmlns:a="http://schemas.openxmlformats.org/drawingml/2006/main">
            <a:off x="1775069" y="2038350"/>
            <a:ext cx="5250962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9F0A1-CE43-4E80-A37B-82493102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This is the most honest part of the demo: the model works well, but its mistakes are understandable and should be discussed.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850A9-8B06-4780-8AF4-A6DE578C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9</a:t>
            </a:r>
          </a:p>
        </p:txBody>
      </p:sp>
    </p:spTree>
    <p:extLst>
      <p:ext uri="{BB962C8B-B14F-4D97-AF65-F5344CB8AC3E}">
        <p14:creationId xmlns:p14="http://schemas.microsoft.com/office/powerpoint/2010/main" val="1471919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009A5-0C8A-4B17-82BE-091A143C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We came close to the paper, but did not overclaim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78B91-A519-43B7-9AEB-11912CBB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LeCun et al. reported about 0.8% MNIST test error for LeNet-5.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D92CB-14B2-44C6-B72B-C556C0E6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959AB-D89F-4640-8379-705B95A9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4191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ED9CD-D64B-4679-B0FA-6E17761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194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7D55"/>
                </a:solidFill>
              </a:defRPr>
            </a:pPr>
            <a:r>
              <a:rPr sz="3750" b="1">
                <a:solidFill>
                  <a:srgbClr val="2F7D55"/>
                </a:solidFill>
              </a:rPr>
              <a:t>0.8%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29A45-365F-497E-A3B5-4B35249D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052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LeNet-5 reported by LeCun et 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E01EF-6059-4A98-BC3D-CFA01951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191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D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62231-88A1-4933-94CE-6F4769B6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194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6B35"/>
                </a:solidFill>
              </a:defRPr>
            </a:pPr>
            <a:r>
              <a:rPr sz="3750" b="1">
                <a:solidFill>
                  <a:srgbClr val="FF6B35"/>
                </a:solidFill>
              </a:rPr>
              <a:t>1.17%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2DF83-05F9-49F2-AD7F-37AB943D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052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our reproduction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97BED-20E3-4F69-8814-FD4BD7BF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482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Gap: 0.37 percentage points. The result is close, but not within the 0.2 percentage-point wow target.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D7B92-F0D9-4D8B-BFEA-BFCD4590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10</a:t>
            </a:r>
          </a:p>
        </p:txBody>
      </p:sp>
    </p:spTree>
    <p:extLst>
      <p:ext uri="{BB962C8B-B14F-4D97-AF65-F5344CB8AC3E}">
        <p14:creationId xmlns:p14="http://schemas.microsoft.com/office/powerpoint/2010/main" val="18987895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7E1FD-06C5-4AE1-AEEC-7C3B3734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The gap is explainable from engineering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CA902-E7D7-47F4-A1C3-8AEA79C6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reproduction favors clarity and reproducibility over historical exactness.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5B2AC-45C7-4314-A9B4-6D63D6A1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1C19D-4F47-4693-9743-82644475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31813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7C7D6-A167-4070-92CA-F1D551C9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</a:defRPr>
            </a:pPr>
            <a:r>
              <a:rPr sz="2325" b="1">
                <a:solidFill>
                  <a:srgbClr val="0A0A0A"/>
                </a:solidFill>
              </a:rPr>
              <a:t>Original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8AFDB-3385-4F3B-8120-52623B5E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647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32x32 inputs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Partial feature connectivity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RBF-style output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Older optimizer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Possible distortions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B0D3F-60CB-4F5C-8C19-CD1DDD0C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31813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E3D7D-22DD-4EFF-B9DD-AD817D03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</a:defRPr>
            </a:pPr>
            <a:r>
              <a:rPr sz="2325" b="1">
                <a:solidFill>
                  <a:srgbClr val="0A0A0A"/>
                </a:solidFill>
              </a:rPr>
              <a:t>This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D839A-1718-4C99-B065-2A3F0188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2647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28x28 inputs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Dense convolution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Linear logits + cross-entropy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Adam optimizer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No augmentation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7E8B2-3380-40F6-9F38-305D1867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31813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D6B50-E826-4469-B51E-4568A3CA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</a:defRPr>
            </a:pPr>
            <a:r>
              <a:rPr sz="2325" b="1">
                <a:solidFill>
                  <a:srgbClr val="0A0A0A"/>
                </a:solidFill>
              </a:rPr>
              <a:t>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80330-8BCA-4F82-A3E9-0A5D9FAD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2647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Simpler code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Fast final run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Easy PyTorch demo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Slightly higher error</a:t>
            </a:r>
          </a:p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Clear limitations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044E8-0EC7-4662-B6D7-02284AE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11</a:t>
            </a:r>
          </a:p>
        </p:txBody>
      </p:sp>
    </p:spTree>
    <p:extLst>
      <p:ext uri="{BB962C8B-B14F-4D97-AF65-F5344CB8AC3E}">
        <p14:creationId xmlns:p14="http://schemas.microsoft.com/office/powerpoint/2010/main" val="1681298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BBD31E-00C1-4745-82C9-388ED3EE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A ResNet-18 baseline is included as the modern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B8951-974C-481D-96F7-0F7270F9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For today's toolkit, residual blocks and batch normalization are the natural contrast to LeNet.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D5822-B4C6-4C01-A918-7B4833B1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FEA1E-29C1-4009-8255-0A82F473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1FF77-70D5-4B22-ABBD-BD2B7536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LeNet-5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D9A3E-D0D5-48A3-9EEA-796CE706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8F2FC-F80F-4B58-92E8-EA283E1A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61k 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F9A03-8F16-46D1-BE2C-4AE2965F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EE0B2-7EF4-42D0-898C-EC059E0E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Tanh + average pooling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8C72D-FCFB-40F4-9532-791526BA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B2A79-7021-4B5F-9D5E-ACE97863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Designed for small digit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DE2FA-3E80-4004-AFC3-F8A43F1F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BEE8A-F5CC-4038-98E0-FF6D92C8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ResNet-18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0AA30-F5EB-4210-A8F0-F47899EA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A6217-C861-460F-930B-E142DE94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0995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Residual blocks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B0B29-76A8-4A9E-8B89-FB27629C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05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5CA2F-3937-4A14-A8DA-EE7DA890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100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Batch normalization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7ADC9-A5AA-48B2-8697-BA101C1F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33388-D520-45ED-9B41-3570BD05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005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Adapted 1-channel MNIST 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77C97-CEBE-45BC-882C-228CB2A6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Run with: python train.py --model resnet18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12E07-3ED7-4770-B4B2-EE7722CA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12</a:t>
            </a:r>
          </a:p>
        </p:txBody>
      </p:sp>
    </p:spTree>
    <p:extLst>
      <p:ext uri="{BB962C8B-B14F-4D97-AF65-F5344CB8AC3E}">
        <p14:creationId xmlns:p14="http://schemas.microsoft.com/office/powerpoint/2010/main" val="5045198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EE970B-3E41-4D45-BB8B-184FCC09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The project succeeds as a clean, honest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19E72-C27B-4725-819E-BD86583E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 small CNN, trained end-to-end, gives high accuracy and a clear explanation of what changed from 1998.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DAFCE-962B-4936-B97D-C7676EA2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BDB0A-6C98-49F5-BDC4-61FAB399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71063-46AC-4ADC-B9DB-F73ECA11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955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</a:defRPr>
            </a:pPr>
            <a:r>
              <a:rPr sz="1875" b="0">
                <a:solidFill>
                  <a:srgbClr val="0A0A0A"/>
                </a:solidFill>
              </a:rPr>
              <a:t>Working training, evaluation, figure, and demo scripts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A8C8E-CA6A-4DCD-BDD8-6594428D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136C6-5FDA-4F4E-92CE-EBFF7036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</a:defRPr>
            </a:pPr>
            <a:r>
              <a:rPr sz="1875" b="0">
                <a:solidFill>
                  <a:srgbClr val="0A0A0A"/>
                </a:solidFill>
              </a:rPr>
              <a:t>Final checkpoint and results committed to GitHub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E8EC1-C984-4F9F-82CF-9B25C032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AA1DA-C39D-40C0-B423-CBBA3E09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</a:defRPr>
            </a:pPr>
            <a:r>
              <a:rPr sz="1875" b="0">
                <a:solidFill>
                  <a:srgbClr val="0A0A0A"/>
                </a:solidFill>
              </a:rPr>
              <a:t>98.83% test accuracy with a 61,706-parameter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B3461-03FC-46D7-A3C7-6606A698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3CD42-1021-4BE0-860A-EA37DFB3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3860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A0A0A"/>
                </a:solidFill>
              </a:defRPr>
            </a:pPr>
            <a:r>
              <a:rPr sz="1875" b="0">
                <a:solidFill>
                  <a:srgbClr val="0A0A0A"/>
                </a:solidFill>
              </a:rPr>
              <a:t>Limitations are explicit instead of hidden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534BE-9872-4A47-9EA4-6094A73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DE792-DE9E-4421-A384-BF4F677B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Takeaway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EA553-E09F-4BFF-BD52-8F73341C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099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LeNet still teaches the core CNN idea clearly.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09CC5-C681-4B26-A2EA-53702341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LeNet-5 on MNIST | 13</a:t>
            </a:r>
          </a:p>
        </p:txBody>
      </p:sp>
    </p:spTree>
    <p:extLst>
      <p:ext uri="{BB962C8B-B14F-4D97-AF65-F5344CB8AC3E}">
        <p14:creationId xmlns:p14="http://schemas.microsoft.com/office/powerpoint/2010/main" val="1950124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2026-07-01T13:43:05.6450000Z</dcterms:created>
  <dcterms:modified xsi:type="dcterms:W3CDTF">2026-07-01T13:43:05.6450000Z</dcterms:modified>
</coreProperties>
</file>