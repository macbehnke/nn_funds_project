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b9a8f296d54a53" /><Relationship Type="http://schemas.openxmlformats.org/officeDocument/2006/relationships/extended-properties" Target="/docProps/app.xml" Id="R57edefd02ea34a87" /><Relationship Type="http://schemas.openxmlformats.org/officeDocument/2006/relationships/officeDocument" Target="/ppt/presentation.xml" Id="Rc4633941b04942f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0a958a769c148b8"/>
  </p:sldMasterIdLst>
  <p:notesMasterIdLst>
    <p:notesMasterId xmlns:r="http://schemas.openxmlformats.org/officeDocument/2006/relationships" r:id="R0c9d581a40404b7c"/>
  </p:notesMasterIdLst>
  <p:sldIdLst>
    <p:sldId xmlns:r="http://schemas.openxmlformats.org/officeDocument/2006/relationships" id="256" r:id="Rec394f8fae72442d"/>
    <p:sldId xmlns:r="http://schemas.openxmlformats.org/officeDocument/2006/relationships" id="257" r:id="R667002b794614105"/>
    <p:sldId xmlns:r="http://schemas.openxmlformats.org/officeDocument/2006/relationships" id="258" r:id="R11b05f11f85e4ea6"/>
    <p:sldId xmlns:r="http://schemas.openxmlformats.org/officeDocument/2006/relationships" id="259" r:id="Rdb92c9b2de4a4983"/>
    <p:sldId xmlns:r="http://schemas.openxmlformats.org/officeDocument/2006/relationships" id="260" r:id="R61c508e92189480c"/>
    <p:sldId xmlns:r="http://schemas.openxmlformats.org/officeDocument/2006/relationships" id="261" r:id="R275ef321836a43e1"/>
    <p:sldId xmlns:r="http://schemas.openxmlformats.org/officeDocument/2006/relationships" id="262" r:id="R5f37e5742fa2463f"/>
    <p:sldId xmlns:r="http://schemas.openxmlformats.org/officeDocument/2006/relationships" id="263" r:id="R5316c2e640fe4994"/>
    <p:sldId xmlns:r="http://schemas.openxmlformats.org/officeDocument/2006/relationships" id="264" r:id="R5cd74636e71d4f88"/>
    <p:sldId xmlns:r="http://schemas.openxmlformats.org/officeDocument/2006/relationships" id="265" r:id="R73de9f88b01244f2"/>
    <p:sldId xmlns:r="http://schemas.openxmlformats.org/officeDocument/2006/relationships" id="266" r:id="Ra140f2dc546b4d24"/>
    <p:sldId xmlns:r="http://schemas.openxmlformats.org/officeDocument/2006/relationships" id="267" r:id="Rc3b53cc3a80043b3"/>
    <p:sldId xmlns:r="http://schemas.openxmlformats.org/officeDocument/2006/relationships" id="268" r:id="R9358c59c8408476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736d1d09154929" /><Relationship Type="http://schemas.openxmlformats.org/officeDocument/2006/relationships/slideMaster" Target="/ppt/slideMasters/slideMaster1.xml" Id="R10a958a769c148b8" /><Relationship Type="http://schemas.openxmlformats.org/officeDocument/2006/relationships/notesMaster" Target="/ppt/notesMasters/notesMaster1.xml" Id="R0c9d581a40404b7c" /><Relationship Type="http://schemas.openxmlformats.org/officeDocument/2006/relationships/presProps" Target="/ppt/presProps.xml" Id="R32133fb634db4171" /><Relationship Type="http://schemas.openxmlformats.org/officeDocument/2006/relationships/tableStyles" Target="/ppt/tableStyles.xml" Id="Rf2b9ab212ac84d11" /><Relationship Type="http://schemas.openxmlformats.org/officeDocument/2006/relationships/slide" Target="/ppt/slides/slide1.xml" Id="Rec394f8fae72442d" /><Relationship Type="http://schemas.openxmlformats.org/officeDocument/2006/relationships/slide" Target="/ppt/slides/slide2.xml" Id="R667002b794614105" /><Relationship Type="http://schemas.openxmlformats.org/officeDocument/2006/relationships/slide" Target="/ppt/slides/slide3.xml" Id="R11b05f11f85e4ea6" /><Relationship Type="http://schemas.openxmlformats.org/officeDocument/2006/relationships/slide" Target="/ppt/slides/slide4.xml" Id="Rdb92c9b2de4a4983" /><Relationship Type="http://schemas.openxmlformats.org/officeDocument/2006/relationships/slide" Target="/ppt/slides/slide5.xml" Id="R61c508e92189480c" /><Relationship Type="http://schemas.openxmlformats.org/officeDocument/2006/relationships/slide" Target="/ppt/slides/slide6.xml" Id="R275ef321836a43e1" /><Relationship Type="http://schemas.openxmlformats.org/officeDocument/2006/relationships/slide" Target="/ppt/slides/slide7.xml" Id="R5f37e5742fa2463f" /><Relationship Type="http://schemas.openxmlformats.org/officeDocument/2006/relationships/slide" Target="/ppt/slides/slide8.xml" Id="R5316c2e640fe4994" /><Relationship Type="http://schemas.openxmlformats.org/officeDocument/2006/relationships/slide" Target="/ppt/slides/slide9.xml" Id="R5cd74636e71d4f88" /><Relationship Type="http://schemas.openxmlformats.org/officeDocument/2006/relationships/slide" Target="/ppt/slides/slide10.xml" Id="R73de9f88b01244f2" /><Relationship Type="http://schemas.openxmlformats.org/officeDocument/2006/relationships/slide" Target="/ppt/slides/slide11.xml" Id="Ra140f2dc546b4d24" /><Relationship Type="http://schemas.openxmlformats.org/officeDocument/2006/relationships/slide" Target="/ppt/slides/slide12.xml" Id="Rc3b53cc3a80043b3" /><Relationship Type="http://schemas.openxmlformats.org/officeDocument/2006/relationships/slide" Target="/ppt/slides/slide13.xml" Id="R9358c59c8408476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950d2be6ab46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c81b0b717d476f" /><Relationship Type="http://schemas.openxmlformats.org/officeDocument/2006/relationships/notesMaster" Target="/ppt/notesMasters/notesMaster1.xml" Id="R08c75ccf79954ec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0c2a9e7e85d4420" /><Relationship Type="http://schemas.openxmlformats.org/officeDocument/2006/relationships/notesMaster" Target="/ppt/notesMasters/notesMaster1.xml" Id="Ra70fd19b3d2d442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3ff7de361845eb" /><Relationship Type="http://schemas.openxmlformats.org/officeDocument/2006/relationships/notesMaster" Target="/ppt/notesMasters/notesMaster1.xml" Id="R3c5d36eef98542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668952d2f44b46" /><Relationship Type="http://schemas.openxmlformats.org/officeDocument/2006/relationships/notesMaster" Target="/ppt/notesMasters/notesMaster1.xml" Id="Rd2c546fc2ebb442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b7968f6c1314875" /><Relationship Type="http://schemas.openxmlformats.org/officeDocument/2006/relationships/notesMaster" Target="/ppt/notesMasters/notesMaster1.xml" Id="R969c1fa92e5a49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dab7f4eda014f7b" /><Relationship Type="http://schemas.openxmlformats.org/officeDocument/2006/relationships/notesMaster" Target="/ppt/notesMasters/notesMaster1.xml" Id="R4ff5db5391b043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c2ff008fe584771" /><Relationship Type="http://schemas.openxmlformats.org/officeDocument/2006/relationships/notesMaster" Target="/ppt/notesMasters/notesMaster1.xml" Id="Rb218ee2579954a8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f9f0c16e89d47a5" /><Relationship Type="http://schemas.openxmlformats.org/officeDocument/2006/relationships/notesMaster" Target="/ppt/notesMasters/notesMaster1.xml" Id="Rc498d7d11bcd42d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31f3a637914402" /><Relationship Type="http://schemas.openxmlformats.org/officeDocument/2006/relationships/notesMaster" Target="/ppt/notesMasters/notesMaster1.xml" Id="R7e29d6eb1942496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71e7fb26fba435b" /><Relationship Type="http://schemas.openxmlformats.org/officeDocument/2006/relationships/notesMaster" Target="/ppt/notesMasters/notesMaster1.xml" Id="R9ee8eec3063a48d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4061d1755c24229" /><Relationship Type="http://schemas.openxmlformats.org/officeDocument/2006/relationships/notesMaster" Target="/ppt/notesMasters/notesMaster1.xml" Id="R223278ba59d5415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232f4b6b6db4213" /><Relationship Type="http://schemas.openxmlformats.org/officeDocument/2006/relationships/notesMaster" Target="/ppt/notesMasters/notesMaster1.xml" Id="R3f7348c5b9fa434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b7026343ded4240" /><Relationship Type="http://schemas.openxmlformats.org/officeDocument/2006/relationships/notesMaster" Target="/ppt/notesMasters/notesMaster1.xml" Id="R78f3fe6f84724a2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b5626f9e464a4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bd6bc1822e84ad0" /><Relationship Type="http://schemas.openxmlformats.org/officeDocument/2006/relationships/slideLayout" Target="/ppt/slideLayouts/slideLayout1.xml" Id="Rc256343576fa4f1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256343576fa4f1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c33a93206b4f0c" /><Relationship Type="http://schemas.openxmlformats.org/officeDocument/2006/relationships/notesSlide" Target="/ppt/notesSlides/notesSlide1.xml" Id="Rd6abac00620e4cc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e19cb5f9ab40a8" /><Relationship Type="http://schemas.openxmlformats.org/officeDocument/2006/relationships/image" Target="/ppt/media/image.png" Id="Rec1316c08bdb4150" /><Relationship Type="http://schemas.openxmlformats.org/officeDocument/2006/relationships/notesSlide" Target="/ppt/notesSlides/notesSlide2.xml" Id="R820faa1f7ab941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8604f8a7874f18" /><Relationship Type="http://schemas.openxmlformats.org/officeDocument/2006/relationships/notesSlide" Target="/ppt/notesSlides/notesSlide3.xml" Id="Rb80ace8830fe48f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22d4c5be294f6c" /><Relationship Type="http://schemas.openxmlformats.org/officeDocument/2006/relationships/notesSlide" Target="/ppt/notesSlides/notesSlide4.xml" Id="R8bddafca765945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6d34abaafe4884" /><Relationship Type="http://schemas.openxmlformats.org/officeDocument/2006/relationships/notesSlide" Target="/ppt/notesSlides/notesSlide5.xml" Id="R7041b028ec7e40d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7fb1ec9da7444f" /><Relationship Type="http://schemas.openxmlformats.org/officeDocument/2006/relationships/notesSlide" Target="/ppt/notesSlides/notesSlide6.xml" Id="Rc81cb11db5d04df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d98ae02f1d48fe" /><Relationship Type="http://schemas.openxmlformats.org/officeDocument/2006/relationships/image" Target="/ppt/media/image2.png" Id="Re190ff99454c4977" /><Relationship Type="http://schemas.openxmlformats.org/officeDocument/2006/relationships/notesSlide" Target="/ppt/notesSlides/notesSlide7.xml" Id="R354864e8addd481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077dd10e6d4f9e" /><Relationship Type="http://schemas.openxmlformats.org/officeDocument/2006/relationships/image" Target="/ppt/media/image3.png" Id="R12f52168497e4e30" /><Relationship Type="http://schemas.openxmlformats.org/officeDocument/2006/relationships/notesSlide" Target="/ppt/notesSlides/notesSlide8.xml" Id="R76959b77c372480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86adce36e8408d" /><Relationship Type="http://schemas.openxmlformats.org/officeDocument/2006/relationships/notesSlide" Target="/ppt/notesSlides/notesSlide9.xml" Id="Rac62cfef4969497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1d66466e844b42" /><Relationship Type="http://schemas.openxmlformats.org/officeDocument/2006/relationships/notesSlide" Target="/ppt/notesSlides/notesSlide10.xml" Id="R54c1883764cb4f2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c0df5814a54bff" /><Relationship Type="http://schemas.openxmlformats.org/officeDocument/2006/relationships/notesSlide" Target="/ppt/notesSlides/notesSlide11.xml" Id="Rd385415c223248c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b0b5a693154fb4" /><Relationship Type="http://schemas.openxmlformats.org/officeDocument/2006/relationships/notesSlide" Target="/ppt/notesSlides/notesSlide12.xml" Id="Rea8559b7bbd746b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ff465124ad4c43" /><Relationship Type="http://schemas.openxmlformats.org/officeDocument/2006/relationships/notesSlide" Target="/ppt/notesSlides/notesSlide13.xml" Id="Rd59cc9b824144a2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7432BB-FAFD-488F-B5EF-FA91C73C8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"/>
            <a:ext cx="876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A0A0A"/>
                </a:solidFill>
              </a:defRPr>
            </a:pPr>
            <a:r>
              <a:rPr sz="4350" b="1">
                <a:solidFill>
                  <a:srgbClr val="0A0A0A"/>
                </a:solidFill>
              </a:rPr>
              <a:t>LeNet-5 on MNIST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EB7A2C-26E9-4EE0-8595-D70FB219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55555"/>
                </a:solidFill>
              </a:defRPr>
            </a:pPr>
            <a:r>
              <a:rPr sz="1950" b="0">
                <a:solidFill>
                  <a:srgbClr val="555555"/>
                </a:solidFill>
              </a:rPr>
              <a:t>Reproducing a classic CNN baseline and comparing it with modern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424796-013C-49C5-9538-B151831C5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1CB27F-6569-4565-A119-0B104E31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98.83%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D97C79-E101-4811-A082-9B8E258F1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accuracy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040D29-DD1C-4077-A1E8-1AA46135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381DD9-0638-4BCD-AC37-86CFBF95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61,706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96B756-7B09-4163-9336-14B52187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trainable parameters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68A3CC-4661-42CC-8A42-714A4FE76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5D1B19-A382-4EED-B2BF-6A6589A2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E6F9E"/>
                </a:solidFill>
              </a:defRPr>
            </a:pPr>
            <a:r>
              <a:rPr sz="3750" b="1">
                <a:solidFill>
                  <a:srgbClr val="2E6F9E"/>
                </a:solidFill>
              </a:rPr>
              <a:t>16.81s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5C1090-9605-483E-BBB7-9F82376D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CPU training 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C4443C-D12F-40A4-B922-45A8A9AC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769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Neural Networks Fundamentals | Project 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C5DEFA-DEBE-4F78-B263-95776FF5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</a:t>
            </a:r>
          </a:p>
        </p:txBody>
      </p:sp>
    </p:spTree>
    <p:extLst>
      <p:ext uri="{BB962C8B-B14F-4D97-AF65-F5344CB8AC3E}">
        <p14:creationId xmlns:p14="http://schemas.microsoft.com/office/powerpoint/2010/main" val="5925927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3A78AE-2097-43A1-BC46-A736EEEB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task is simple enough to reveal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EC3DE7-0C34-446E-8840-9329A64DA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MNIST removes most data-engineering noise, so the architecture and training choices are easy to inspect.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54C906-5801-43F4-A24E-F958F577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CF4760-DD2E-4CFD-AA88-1D011CBE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605147-0DD9-492C-98BB-6A0D4785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Input: centered grayscale handwritten digit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9A7689-9AAC-4204-8020-C609AEC7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33AB3B-D500-4D0D-AFE4-BE8C2989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Output: one of ten classes, 0 through 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FA8D1F-A93F-419C-B1CD-1F9FFACA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E305B7-7550-479C-BB87-7691E1AB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480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Dataset: 60,000 train images and 10,000 test images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E38790-4336-478C-9682-1F494A10C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8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4B8B3E-B99A-4224-9B69-BC2BD9F0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Project goal: reproduce LeNet-style CNN behavior cleanly and reproducibly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1316c08bdb4150"/>
          <a:stretch xmlns:a="http://schemas.openxmlformats.org/drawingml/2006/main"/>
        </p:blipFill>
        <p:spPr>
          <a:xfrm xmlns:a="http://schemas.openxmlformats.org/drawingml/2006/main">
            <a:off x="6858000" y="2266950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36325E-9853-43E7-A04B-5FC73EF3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88645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The final demo loads the checkpoint and predicts a held-out MNIST digit.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35B807-A0E2-437D-B937-84F0F4EC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2</a:t>
            </a:r>
          </a:p>
        </p:txBody>
      </p:sp>
    </p:spTree>
    <p:extLst>
      <p:ext uri="{BB962C8B-B14F-4D97-AF65-F5344CB8AC3E}">
        <p14:creationId xmlns:p14="http://schemas.microsoft.com/office/powerpoint/2010/main" val="2879313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7544A9-2154-42B0-A3FB-AD30D730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LeNet-5 is small, structured, and still instructive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0175BB-1680-44D7-9B73-9117D141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network uses local filters, pooling, and a compact classifier instead of dense connections over all pixels.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1945B6-0B6E-41B6-B82A-A880E199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BA0079-8DA1-4C9A-8C5A-E45E4218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D1A9B5-7EAB-4613-901B-BFFC15DF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Input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AFC294-EB8C-474B-A0B3-31DA6391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1x28x28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9DD60A-402B-48C9-87EA-D8816E36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399983-8B59-41EF-A7B0-D16DFBBF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2939B3-6263-4548-8C9A-D78CA682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Conv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F59B5A-37E6-4E30-9058-3EE3631F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6 maps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C73AC8-CD29-4B8A-83A1-A1A0DFA3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02B239-EB56-4C85-821E-8930CE1E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5CF85F-D9AE-4374-9CDF-5A542F28C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Avg pool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685AC9-7963-4BA2-864C-29CB99029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2x2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379DD5-8744-49BE-96CC-E5A91FE0F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B7BB23-2132-4441-9047-5BB2298C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5B6C3E-6A48-44E7-82F6-4DB292663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Conv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CB4CB0-8FB4-4638-A2D0-3168F3F4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16 maps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AF0872-29EF-4085-810E-37ADE79E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4955F0-5A88-43E0-B33E-F26C74AE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4D6947-E8BB-43F4-83E6-AAAB4184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Avg pool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0ECA52-7422-4EC4-9F91-92C04789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2x2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533EF7-5968-4AC9-A698-12118BA6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D3717E-CBCC-49DC-B1A5-FC826638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6BB8B4-A374-4D06-B43B-D139F1499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Dense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B0B063-FF62-4B6E-8BF3-F8C35470B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120, 84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3D6DDA-0EF8-4F56-8EE0-19CBB725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C9D4F3-F030-4641-AEF6-27235E58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920FC4-487F-4501-AE9D-4A67F9078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Output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44898B-0476-4A7B-A338-4356F749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10 digits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ADE5ED-76F1-420C-81BE-EDAFB12A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91050"/>
            <a:ext cx="990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Visible layer sizes follow the classic LeNet-5 shape: two convolutional stages, then 120 and 84 hidden units before the 10-way classifier.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908BC7-A300-4A32-BDDC-AD00630C3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3</a:t>
            </a:r>
          </a:p>
        </p:txBody>
      </p:sp>
    </p:spTree>
    <p:extLst>
      <p:ext uri="{BB962C8B-B14F-4D97-AF65-F5344CB8AC3E}">
        <p14:creationId xmlns:p14="http://schemas.microsoft.com/office/powerpoint/2010/main" val="5757427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97F2F4-5823-4B13-9CC0-161415AD0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We kept the historical shape but used modern training defaults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40ED29-4893-494C-9746-454E5865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implementation is faithful as a teaching reproduction, not an exact historical reconstruction.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6EF57A-6F47-482A-A88F-8323B9C4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3CB6A1-3509-4C60-A213-2ED9D658B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EE81D0-61D7-4CA4-B876-BAD4B45BD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527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Kept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05E05E-9EF1-4B38-BFAB-CFF173B09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574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5x5 convolutions, tanh activations, average pooling, 120 and 84 hidden units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A3DB81-ACAC-4696-A6DD-7AEF67C0D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4805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F837C0-8D4B-4E95-A3DE-27991C12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766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Changed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581B9B-EAB9-4FD5-8EB6-1EF8C58AF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28x28 inputs, dense second convolution, linear output layer, cross-entropy loss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2733FA-EA7B-4FC8-9487-1B700DB0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208B22-96EE-4969-AB59-B8AF95E1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006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Reason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9905EA-2650-4C10-823C-948E01439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7053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Modern PyTorch conventions make the run shorter, clearer, and easier to reproduce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C83230-47FF-4DA8-A063-308D6EE37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4</a:t>
            </a:r>
          </a:p>
        </p:txBody>
      </p:sp>
    </p:spTree>
    <p:extLst>
      <p:ext uri="{BB962C8B-B14F-4D97-AF65-F5344CB8AC3E}">
        <p14:creationId xmlns:p14="http://schemas.microsoft.com/office/powerpoint/2010/main" val="9775137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6C35B1-5358-43CF-BEB3-36B875D7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training run is deliberately reproducible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A46C39-9223-49B8-A5B4-2C3BF39F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final reported run uses a fixed seed and saves the best validation checkpoint.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1F9B4A-4898-446D-BCEF-8146C939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D182A4-1546-49DA-841A-9B93727D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103822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561DDA-33CD-43C9-B0EE-B880A26F9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62250"/>
            <a:ext cx="161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460D28-5108-4269-A421-CEAF8E2A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480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epochs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326C96-D447-4B0A-93EA-39A1C4CA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62250"/>
            <a:ext cx="180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128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780CBB-02B8-4F27-BCED-7FCDC6DE4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480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batch size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DD8FFA-689E-4696-A9E3-7D25F884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76225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0.001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C226C7-D148-4997-8AC6-FDA8D74B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480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learning 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17B618-4737-41A0-80B5-58908358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62250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5,000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819D13-BC6A-4498-B970-89590162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480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validation split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409127-E783-4B3B-B0ED-C32B2A15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0A0A0A"/>
                </a:solidFill>
              </a:defRPr>
            </a:pPr>
            <a:r>
              <a:rPr sz="1950" b="0">
                <a:solidFill>
                  <a:srgbClr val="0A0A0A"/>
                </a:solidFill>
              </a:rPr>
              <a:t>Optimizer: Adam | Loss: cross-entropy | Seed: 42 | Device used in final run: CPU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B4AA4E-B813-4B81-84C3-5064CC8EA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5</a:t>
            </a:r>
          </a:p>
        </p:txBody>
      </p:sp>
    </p:spTree>
    <p:extLst>
      <p:ext uri="{BB962C8B-B14F-4D97-AF65-F5344CB8AC3E}">
        <p14:creationId xmlns:p14="http://schemas.microsoft.com/office/powerpoint/2010/main" val="18182330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0F5193-0252-480D-B4A9-396D53C9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small CNN reaches high accuracy in seconds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47F963-2948-4707-9AAB-0C81F942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Final cluster run results from outputs/metrics.json.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FE1B3F-A0BC-42F8-B609-A87C902FE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1A6045-6A45-4571-880C-3CA09461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98.68%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785B79-E7BA-4A6E-BAF1-D194E5A5D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best validation accuracy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C6A8EF-B9B9-45E4-BFE0-83317355B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98.83%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70DCE0-FAB2-4BF8-8918-BCF452E51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accuracy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A54492-775B-4D4B-B059-4E1092CBC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6B35"/>
                </a:solidFill>
              </a:defRPr>
            </a:pPr>
            <a:r>
              <a:rPr sz="3750" b="1">
                <a:solidFill>
                  <a:srgbClr val="FF6B35"/>
                </a:solidFill>
              </a:rPr>
              <a:t>1.17%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0920EC-7894-4B91-ACC3-3A266CE7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error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8A9706-4C14-4B70-97FB-0E14D6A9E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62450"/>
            <a:ext cx="962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2052EE-0EE2-4B25-8341-9590BE78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720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This satisfies the course feasibility constraint comfortably: the full final run trained end-to-end on CPU in 16.81 seconds.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6B3F65-9525-4895-92A1-042D648B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6</a:t>
            </a:r>
          </a:p>
        </p:txBody>
      </p:sp>
    </p:spTree>
    <p:extLst>
      <p:ext uri="{BB962C8B-B14F-4D97-AF65-F5344CB8AC3E}">
        <p14:creationId xmlns:p14="http://schemas.microsoft.com/office/powerpoint/2010/main" val="15560676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838D07-97AA-40BC-92AE-34F04CF80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Training is stable and mostly converged after eight epochs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F0357-4B3C-4B15-8E5B-48DF8953E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Loss continues to improve while validation accuracy plateaus near 98.7%.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4E3B85-FDA6-420C-A65C-E1D32A59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90ff99454c4977"/>
          <a:stretch xmlns:a="http://schemas.openxmlformats.org/drawingml/2006/main"/>
        </p:blipFill>
        <p:spPr>
          <a:xfrm xmlns:a="http://schemas.openxmlformats.org/drawingml/2006/main">
            <a:off x="1650206" y="2095500"/>
            <a:ext cx="8358188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DC9BD3-F22A-4C65-9EB8-7511186D1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7</a:t>
            </a:r>
          </a:p>
        </p:txBody>
      </p:sp>
    </p:spTree>
    <p:extLst>
      <p:ext uri="{BB962C8B-B14F-4D97-AF65-F5344CB8AC3E}">
        <p14:creationId xmlns:p14="http://schemas.microsoft.com/office/powerpoint/2010/main" val="4553859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7F97D5-1DC9-4BCF-842B-7ED720A1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Most errors are rare and concentrated among similar digits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5F0843-F57F-4707-8811-3CE6066D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confusion matrix shows strong diagonal performance across all ten classes.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0CCC89-CBD6-432D-B470-C213E310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f52168497e4e30"/>
          <a:stretch xmlns:a="http://schemas.openxmlformats.org/drawingml/2006/main"/>
        </p:blipFill>
        <p:spPr>
          <a:xfrm xmlns:a="http://schemas.openxmlformats.org/drawingml/2006/main">
            <a:off x="1765300" y="2000250"/>
            <a:ext cx="4889500" cy="4191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18F936-0E3A-43A0-AC08-A7E4CFC2C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781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F26019-D3BA-4D63-965C-6A6DAD7C2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860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Most predictions lie on the diagonal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8B6B1F-038A-4393-A165-C2632256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38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826B53-F4EC-4EA3-BB58-70D17053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1432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Remaining mistakes are sparse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C2814C-F7EB-4A4B-BA05-0596E3D0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95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18C253-B93E-44D8-9CAC-075C676F3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6004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Errors usually involve similar digit shapes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72EAE8-EA61-44EB-AF6B-4868824F0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152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A196F8-9233-4944-8DA5-F8F37F89A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576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Accuracy alone still does not prove robustness on real handwriting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38BC02-5EBD-47AF-BEC6-F2B5B05A5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8</a:t>
            </a:r>
          </a:p>
        </p:txBody>
      </p:sp>
    </p:spTree>
    <p:extLst>
      <p:ext uri="{BB962C8B-B14F-4D97-AF65-F5344CB8AC3E}">
        <p14:creationId xmlns:p14="http://schemas.microsoft.com/office/powerpoint/2010/main" val="50814123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A2CFF6-7EB5-487F-B5D4-BD5CA27E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wow demo classifies a digit drawn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41788E-676E-4312-8474-A7486F353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A browser canvas sends the drawing to the trained PyTorch checkpoint and returns class probabilities.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B94600-F9B3-43CC-9977-4ECA7B6B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ADA075-8917-4F72-8FE5-D45CDEE0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37338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F75FAE-04E6-4E93-994B-7A16FF405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457450"/>
            <a:ext cx="22098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350" b="1">
                <a:solidFill>
                  <a:srgbClr val="FFFFFF"/>
                </a:solidFill>
              </a:defRPr>
            </a:pPr>
            <a:r>
              <a:rPr sz="1335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E243CF-95C0-470E-8ED7-1205BEEE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419350"/>
            <a:ext cx="533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A0A0A"/>
                </a:solidFill>
              </a:defRPr>
            </a:pPr>
            <a:r>
              <a:rPr sz="2550" b="1">
                <a:solidFill>
                  <a:srgbClr val="0A0A0A"/>
                </a:solidFill>
              </a:rPr>
              <a:t>python app.py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4EF6F9-BDAF-4F04-9C16-E254851B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02895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A0A0A"/>
                </a:solidFill>
              </a:defRPr>
            </a:pPr>
            <a:r>
              <a:rPr sz="2100" b="0">
                <a:solidFill>
                  <a:srgbClr val="0A0A0A"/>
                </a:solidFill>
              </a:rPr>
              <a:t>Open http://127.0.0.1:5000, draw a digit, and click Classify.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878987-654F-4FD2-A040-FD27E9A7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33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9F7756-01F3-4801-A0DE-CEA25C522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386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Uses the committed checkpoint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4F3A05-E864-4770-A966-981DEA87E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552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9D73D6-02DD-40F7-AFA3-DF6CEB71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4577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Crops and rescales the browser drawing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23CAD3-4B13-4C81-BA6B-0275C704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9720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085A7D-8119-4325-9643-47BE64F0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8768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Shows prediction plus probability bars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1525DC-9989-45A2-9CD0-973EB7F8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391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94FDF6-1AFC-4FAB-88E9-F3EE6392F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959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Backup: python demo.py --sample-index 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5821AB-C4A3-4B8F-A7EA-70B663CA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9</a:t>
            </a:r>
          </a:p>
        </p:txBody>
      </p:sp>
    </p:spTree>
    <p:extLst>
      <p:ext uri="{BB962C8B-B14F-4D97-AF65-F5344CB8AC3E}">
        <p14:creationId xmlns:p14="http://schemas.microsoft.com/office/powerpoint/2010/main" val="4591258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4AA5D5-9FE0-4FF6-8171-92154E09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We came close to the paper, but did not overclaim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654D07-C103-4A15-B247-2326207C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LeCun et al. reported about 0.8% MNIST test error for LeNet-5.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4F561E-9A59-4444-8A2A-6E782BE7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8564DD-61AC-4AB4-9C60-8B8F98ACD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76500"/>
            <a:ext cx="41910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D73012-0047-4AF1-857C-298F3F20D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0.8%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23A619-4CF7-4D24-8C1D-64908FE6F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5052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LeNet-5 reported by LeCun et 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BD807B-0D08-496F-90DF-82E909D9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76500"/>
            <a:ext cx="41910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4EA7B7-C30D-4B9C-9552-D190E855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194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6B35"/>
                </a:solidFill>
              </a:defRPr>
            </a:pPr>
            <a:r>
              <a:rPr sz="3750" b="1">
                <a:solidFill>
                  <a:srgbClr val="FF6B35"/>
                </a:solidFill>
              </a:rPr>
              <a:t>1.17%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5C82B8-23F3-4E18-ADA2-613E1101F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052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our reproduction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313D57-2BAF-4801-BAE9-02B05F668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4825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A0A0A"/>
                </a:solidFill>
              </a:defRPr>
            </a:pPr>
            <a:r>
              <a:rPr sz="2100" b="1">
                <a:solidFill>
                  <a:srgbClr val="0A0A0A"/>
                </a:solidFill>
              </a:rPr>
              <a:t>Gap: 0.37 percentage points. The result is close, but not within the 0.2 percentage-point wow target.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A11D44-9575-4DAD-AE45-CB4FAE652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10</a:t>
            </a:r>
          </a:p>
        </p:txBody>
      </p:sp>
    </p:spTree>
    <p:extLst>
      <p:ext uri="{BB962C8B-B14F-4D97-AF65-F5344CB8AC3E}">
        <p14:creationId xmlns:p14="http://schemas.microsoft.com/office/powerpoint/2010/main" val="23852597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4FE5B1-639F-4E93-BBC3-84F2204AE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gap is explainable from engineering choices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6070C6-5B78-42BE-A638-170CB67D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reproduction favors clarity and reproducibility over historical exactness.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73C6AC-4716-42A0-AFD2-D7242C1F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D56D7C-5BAA-467C-AD4C-8CA06CF8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50C9C3-C68F-474C-875C-6DD0D721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Original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B9DB16-F9B5-41B1-8A40-E543AB150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32x32 inputs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Partial feature connectivity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RBF-style output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Older optimizer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Possible distortions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5E81DA-58CD-4709-AB31-F5297FD07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8FE84F-A392-4736-979A-AE4B920A1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This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C64E7C-84BF-4319-B710-B71BB9E9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28x28 inputs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Dense convolution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Linear logits + cross-entropy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Adam optimizer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No augmentation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CD5900-9A5B-496C-925C-3AB42EEB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43C587-73FE-4234-BD09-BC812A0D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Effect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C863E8-0C33-4542-9CC3-A2959A33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Simpler code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Fast final run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Easy PyTorch demo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Slightly higher error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Clear limitations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33FB3D-4F09-47CA-BAF9-8A8D49131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11</a:t>
            </a:r>
          </a:p>
        </p:txBody>
      </p:sp>
    </p:spTree>
    <p:extLst>
      <p:ext uri="{BB962C8B-B14F-4D97-AF65-F5344CB8AC3E}">
        <p14:creationId xmlns:p14="http://schemas.microsoft.com/office/powerpoint/2010/main" val="3202194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7A541E-B94B-4C94-92DA-897FA08D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ResNet-18 is more accurate but far less efficient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702319-ABF2-460E-9DAE-84E306A36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modern baseline improves accuracy by 0.35 percentage points, but with a much larger model.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21D88C-10A7-4A91-B3A9-6A2AFBCB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202C17-7A71-4C2B-A72E-A26738641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572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F67CF2-4EB1-461D-BD5A-4EBFB821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241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A0A0A"/>
                </a:solidFill>
              </a:defRPr>
            </a:pPr>
            <a:r>
              <a:rPr sz="2700" b="1">
                <a:solidFill>
                  <a:srgbClr val="0A0A0A"/>
                </a:solidFill>
              </a:rPr>
              <a:t>LeNet-5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552979-1015-4C48-A400-F6B2BCF8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29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720059-A0F5-4496-895A-1E9DA5281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337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98.83% test accuracy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CCEDBE-E498-43F3-9940-E174658E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B68104-FE8F-4D39-942D-495A4BFF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957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61,706 parameters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C899B6-9C6E-4FA3-A8AD-7352E7BF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52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9A4947-EBDC-4A6C-81C1-435946DB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16.81 s CPU training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106F29-3D96-47C4-A825-DAAB70FF0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14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61CC76-CF0A-4A62-B118-68479110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196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0.25 MB checkpoint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10F14B-6536-45CA-8968-D0245C4E8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38400"/>
            <a:ext cx="4572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E28945-3628-4745-A105-C8F28B09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241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A0A0A"/>
                </a:solidFill>
              </a:defRPr>
            </a:pPr>
            <a:r>
              <a:rPr sz="2700" b="1">
                <a:solidFill>
                  <a:srgbClr val="0A0A0A"/>
                </a:solidFill>
              </a:rPr>
              <a:t>ResNet-18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5CED1B-21E2-4080-8CE9-14699224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A10C8F-1FA4-4851-B39B-B229CDC9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337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99.18% test accuracy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153771-B2EA-48EC-9644-D17BEB39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B20544-D7C7-4EA5-B975-83560F9C1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957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11,172,810 parameters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FB0ABC-8ED3-4515-9E3E-795715EC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152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EE6662-A44D-4B1E-B15B-D9E439CA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0576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726.28 s CPU training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6970EC-72FB-4D17-9941-E6324BEA7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514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410224-A04B-42E8-BD65-D94DD269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196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44.77 MB checkpoint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100381-B505-4D30-B67D-7201B209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6007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For MNIST, ResNet wins on accuracy; LeNet wins on simplicity, speed, and explainability.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E5C6A3-8CA2-4254-B938-BC05707BF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12</a:t>
            </a:r>
          </a:p>
        </p:txBody>
      </p:sp>
    </p:spTree>
    <p:extLst>
      <p:ext uri="{BB962C8B-B14F-4D97-AF65-F5344CB8AC3E}">
        <p14:creationId xmlns:p14="http://schemas.microsoft.com/office/powerpoint/2010/main" val="15599289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E7AFEF-1FD8-4C95-932A-4DC88493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project succeeds as a clean, honest reproduction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EADC5B-0EC8-466D-85EB-C0C87016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A small CNN, trained end-to-end, gives high accuracy and a clear explanation of what changed from 1998.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9AC064-DB86-488C-85BA-82029F264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49F49B-83D5-47A5-8EF0-D2B40B11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31D810-A177-4B44-A8A3-C8A94925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9555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Working training, evaluation, figure, and demo scripts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B0357A-904F-4301-81BB-EBB797E2E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05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2FB9DC-84FE-4DF1-84F4-AA26D04B4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0990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Final checkpoint and results committed to GitHub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9E6767-7833-4D23-8EE8-55533A0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19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037D6C-BC25-4A84-8F07-25288C68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2425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98.83% test accuracy with a 61,706-parameter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A24B9A-B99F-4898-B64C-4C4EAD5A6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33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C786DF-2A2F-4B80-8FB8-8C2FBEAE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3860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Limitations are explicit instead of hidden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7B6A0D-4A4B-48B9-BED3-95666AD42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71750"/>
            <a:ext cx="2000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BC1A82-DF04-4963-AF8B-F291FE420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956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A0A0A"/>
                </a:solidFill>
              </a:defRPr>
            </a:pPr>
            <a:r>
              <a:rPr sz="2100" b="1">
                <a:solidFill>
                  <a:srgbClr val="0A0A0A"/>
                </a:solidFill>
              </a:rPr>
              <a:t>Takeaway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13A090-E1EC-47A3-9B08-66624D62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1333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LeNet still teaches the core CNN idea clearly.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229A63-6E39-4001-BACC-F3458D0E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13</a:t>
            </a:r>
          </a:p>
        </p:txBody>
      </p:sp>
    </p:spTree>
    <p:extLst>
      <p:ext uri="{BB962C8B-B14F-4D97-AF65-F5344CB8AC3E}">
        <p14:creationId xmlns:p14="http://schemas.microsoft.com/office/powerpoint/2010/main" val="20569255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2026-07-01T14:16:23.5190000Z</dcterms:created>
  <dcterms:modified xsi:type="dcterms:W3CDTF">2026-07-01T14:16:23.5190000Z</dcterms:modified>
</coreProperties>
</file>