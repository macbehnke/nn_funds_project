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bc02c3fd584d12" /><Relationship Type="http://schemas.openxmlformats.org/officeDocument/2006/relationships/extended-properties" Target="/docProps/app.xml" Id="R2c14d9fe83e1413e" /><Relationship Type="http://schemas.openxmlformats.org/officeDocument/2006/relationships/officeDocument" Target="/ppt/presentation.xml" Id="R0e3ae6ff3c914e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f2b148492549f0"/>
  </p:sldMasterIdLst>
  <p:notesMasterIdLst>
    <p:notesMasterId xmlns:r="http://schemas.openxmlformats.org/officeDocument/2006/relationships" r:id="R84600c60c1b6401b"/>
  </p:notesMasterIdLst>
  <p:sldIdLst>
    <p:sldId xmlns:r="http://schemas.openxmlformats.org/officeDocument/2006/relationships" id="256" r:id="Rbfe7c70659e64e97"/>
    <p:sldId xmlns:r="http://schemas.openxmlformats.org/officeDocument/2006/relationships" id="257" r:id="Rabbb09e037f44fbd"/>
    <p:sldId xmlns:r="http://schemas.openxmlformats.org/officeDocument/2006/relationships" id="258" r:id="R1364b7584e7b47c7"/>
    <p:sldId xmlns:r="http://schemas.openxmlformats.org/officeDocument/2006/relationships" id="259" r:id="R7e189e17daa3490c"/>
    <p:sldId xmlns:r="http://schemas.openxmlformats.org/officeDocument/2006/relationships" id="260" r:id="R24d1f755b87e4a9b"/>
    <p:sldId xmlns:r="http://schemas.openxmlformats.org/officeDocument/2006/relationships" id="261" r:id="R5b7fa15bfe444fca"/>
    <p:sldId xmlns:r="http://schemas.openxmlformats.org/officeDocument/2006/relationships" id="262" r:id="R9ff52b6876214b60"/>
    <p:sldId xmlns:r="http://schemas.openxmlformats.org/officeDocument/2006/relationships" id="263" r:id="Rc169af87589c4b19"/>
    <p:sldId xmlns:r="http://schemas.openxmlformats.org/officeDocument/2006/relationships" id="264" r:id="R9dd49a8e1fe34bd3"/>
    <p:sldId xmlns:r="http://schemas.openxmlformats.org/officeDocument/2006/relationships" id="265" r:id="R95ebbe66721343cb"/>
    <p:sldId xmlns:r="http://schemas.openxmlformats.org/officeDocument/2006/relationships" id="266" r:id="R6ee82392785345da"/>
    <p:sldId xmlns:r="http://schemas.openxmlformats.org/officeDocument/2006/relationships" id="267" r:id="R333fcd0897a74d9c"/>
    <p:sldId xmlns:r="http://schemas.openxmlformats.org/officeDocument/2006/relationships" id="268" r:id="R222163604ead4d2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9571c62df14882" /><Relationship Type="http://schemas.openxmlformats.org/officeDocument/2006/relationships/slideMaster" Target="/ppt/slideMasters/slideMaster1.xml" Id="R28f2b148492549f0" /><Relationship Type="http://schemas.openxmlformats.org/officeDocument/2006/relationships/notesMaster" Target="/ppt/notesMasters/notesMaster1.xml" Id="R84600c60c1b6401b" /><Relationship Type="http://schemas.openxmlformats.org/officeDocument/2006/relationships/presProps" Target="/ppt/presProps.xml" Id="Rb50b0d42d6534af0" /><Relationship Type="http://schemas.openxmlformats.org/officeDocument/2006/relationships/tableStyles" Target="/ppt/tableStyles.xml" Id="R456215127c764b7f" /><Relationship Type="http://schemas.openxmlformats.org/officeDocument/2006/relationships/slide" Target="/ppt/slides/slide1.xml" Id="Rbfe7c70659e64e97" /><Relationship Type="http://schemas.openxmlformats.org/officeDocument/2006/relationships/slide" Target="/ppt/slides/slide2.xml" Id="Rabbb09e037f44fbd" /><Relationship Type="http://schemas.openxmlformats.org/officeDocument/2006/relationships/slide" Target="/ppt/slides/slide3.xml" Id="R1364b7584e7b47c7" /><Relationship Type="http://schemas.openxmlformats.org/officeDocument/2006/relationships/slide" Target="/ppt/slides/slide4.xml" Id="R7e189e17daa3490c" /><Relationship Type="http://schemas.openxmlformats.org/officeDocument/2006/relationships/slide" Target="/ppt/slides/slide5.xml" Id="R24d1f755b87e4a9b" /><Relationship Type="http://schemas.openxmlformats.org/officeDocument/2006/relationships/slide" Target="/ppt/slides/slide6.xml" Id="R5b7fa15bfe444fca" /><Relationship Type="http://schemas.openxmlformats.org/officeDocument/2006/relationships/slide" Target="/ppt/slides/slide7.xml" Id="R9ff52b6876214b60" /><Relationship Type="http://schemas.openxmlformats.org/officeDocument/2006/relationships/slide" Target="/ppt/slides/slide8.xml" Id="Rc169af87589c4b19" /><Relationship Type="http://schemas.openxmlformats.org/officeDocument/2006/relationships/slide" Target="/ppt/slides/slide9.xml" Id="R9dd49a8e1fe34bd3" /><Relationship Type="http://schemas.openxmlformats.org/officeDocument/2006/relationships/slide" Target="/ppt/slides/slide10.xml" Id="R95ebbe66721343cb" /><Relationship Type="http://schemas.openxmlformats.org/officeDocument/2006/relationships/slide" Target="/ppt/slides/slide11.xml" Id="R6ee82392785345da" /><Relationship Type="http://schemas.openxmlformats.org/officeDocument/2006/relationships/slide" Target="/ppt/slides/slide12.xml" Id="R333fcd0897a74d9c" /><Relationship Type="http://schemas.openxmlformats.org/officeDocument/2006/relationships/slide" Target="/ppt/slides/slide13.xml" Id="R222163604ead4d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5f917ebe2e46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57deaec4b24bd4" /><Relationship Type="http://schemas.openxmlformats.org/officeDocument/2006/relationships/notesMaster" Target="/ppt/notesMasters/notesMaster1.xml" Id="R7edc744c449e4c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9d8cc0a7f341ac" /><Relationship Type="http://schemas.openxmlformats.org/officeDocument/2006/relationships/notesMaster" Target="/ppt/notesMasters/notesMaster1.xml" Id="Rd8c4ef60b46f47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31b85cb8d44010" /><Relationship Type="http://schemas.openxmlformats.org/officeDocument/2006/relationships/notesMaster" Target="/ppt/notesMasters/notesMaster1.xml" Id="R17f597281d4f49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ac81fe64e34a9f" /><Relationship Type="http://schemas.openxmlformats.org/officeDocument/2006/relationships/notesMaster" Target="/ppt/notesMasters/notesMaster1.xml" Id="R1ae45f3ea7a64b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087fd6085d4826" /><Relationship Type="http://schemas.openxmlformats.org/officeDocument/2006/relationships/notesMaster" Target="/ppt/notesMasters/notesMaster1.xml" Id="R8e5633105b4f49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4c3a916a4cf475a" /><Relationship Type="http://schemas.openxmlformats.org/officeDocument/2006/relationships/notesMaster" Target="/ppt/notesMasters/notesMaster1.xml" Id="R55bf4166e20c4a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b5cefe33754982" /><Relationship Type="http://schemas.openxmlformats.org/officeDocument/2006/relationships/notesMaster" Target="/ppt/notesMasters/notesMaster1.xml" Id="R70047fc31d404a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c2a9dd3fd94604" /><Relationship Type="http://schemas.openxmlformats.org/officeDocument/2006/relationships/notesMaster" Target="/ppt/notesMasters/notesMaster1.xml" Id="R8d68432d8eb640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06a358d9394753" /><Relationship Type="http://schemas.openxmlformats.org/officeDocument/2006/relationships/notesMaster" Target="/ppt/notesMasters/notesMaster1.xml" Id="Rf28b11b4a89d49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19453fe506478e" /><Relationship Type="http://schemas.openxmlformats.org/officeDocument/2006/relationships/notesMaster" Target="/ppt/notesMasters/notesMaster1.xml" Id="R4f6f37ff4b114d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7d54cf633f427d" /><Relationship Type="http://schemas.openxmlformats.org/officeDocument/2006/relationships/notesMaster" Target="/ppt/notesMasters/notesMaster1.xml" Id="R9b6427923ab0404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8efa78f1314d67" /><Relationship Type="http://schemas.openxmlformats.org/officeDocument/2006/relationships/notesMaster" Target="/ppt/notesMasters/notesMaster1.xml" Id="R783da9e3da3041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6e00f3efe74154" /><Relationship Type="http://schemas.openxmlformats.org/officeDocument/2006/relationships/notesMaster" Target="/ppt/notesMasters/notesMaster1.xml" Id="R93e7ca4337424c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bf08675e6140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af0f18035647e0" /><Relationship Type="http://schemas.openxmlformats.org/officeDocument/2006/relationships/slideLayout" Target="/ppt/slideLayouts/slideLayout1.xml" Id="R49df1b844fd541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df1b844fd541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69177dc794770" /><Relationship Type="http://schemas.openxmlformats.org/officeDocument/2006/relationships/notesSlide" Target="/ppt/notesSlides/notesSlide1.xml" Id="R5d6caefa2fbf4e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573611fe1448b" /><Relationship Type="http://schemas.openxmlformats.org/officeDocument/2006/relationships/image" Target="/ppt/media/image.png" Id="R26e14d1ea1e74d68" /><Relationship Type="http://schemas.openxmlformats.org/officeDocument/2006/relationships/notesSlide" Target="/ppt/notesSlides/notesSlide2.xml" Id="R579cac6a8b5048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57ada1e324418" /><Relationship Type="http://schemas.openxmlformats.org/officeDocument/2006/relationships/notesSlide" Target="/ppt/notesSlides/notesSlide3.xml" Id="Rd2e0d57cb0794e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3e2a95b034e8d" /><Relationship Type="http://schemas.openxmlformats.org/officeDocument/2006/relationships/notesSlide" Target="/ppt/notesSlides/notesSlide4.xml" Id="Rfdf57ea662da44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b6c8d910984188" /><Relationship Type="http://schemas.openxmlformats.org/officeDocument/2006/relationships/notesSlide" Target="/ppt/notesSlides/notesSlide5.xml" Id="R68a2ccf72b0146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67ae200a54f0e" /><Relationship Type="http://schemas.openxmlformats.org/officeDocument/2006/relationships/notesSlide" Target="/ppt/notesSlides/notesSlide6.xml" Id="Rff9b3c5dc6bb46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3b429b9c841ee" /><Relationship Type="http://schemas.openxmlformats.org/officeDocument/2006/relationships/image" Target="/ppt/media/image2.png" Id="R8b83caf3ff80428e" /><Relationship Type="http://schemas.openxmlformats.org/officeDocument/2006/relationships/notesSlide" Target="/ppt/notesSlides/notesSlide7.xml" Id="Rb405446700f344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ca0bffacc342ed" /><Relationship Type="http://schemas.openxmlformats.org/officeDocument/2006/relationships/image" Target="/ppt/media/image3.png" Id="R9dbffcd1b67b4bcf" /><Relationship Type="http://schemas.openxmlformats.org/officeDocument/2006/relationships/notesSlide" Target="/ppt/notesSlides/notesSlide8.xml" Id="R283f369b11204f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79f624263e4423" /><Relationship Type="http://schemas.openxmlformats.org/officeDocument/2006/relationships/notesSlide" Target="/ppt/notesSlides/notesSlide9.xml" Id="R971258d7826242f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50c4ebb9f84aa3" /><Relationship Type="http://schemas.openxmlformats.org/officeDocument/2006/relationships/notesSlide" Target="/ppt/notesSlides/notesSlide10.xml" Id="Re6471f3c1dd24b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166b2567ef40aa" /><Relationship Type="http://schemas.openxmlformats.org/officeDocument/2006/relationships/notesSlide" Target="/ppt/notesSlides/notesSlide11.xml" Id="R0892b16c6a2140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afccbaad04da0" /><Relationship Type="http://schemas.openxmlformats.org/officeDocument/2006/relationships/notesSlide" Target="/ppt/notesSlides/notesSlide12.xml" Id="R449efeefd91943a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373b414e34eb1" /><Relationship Type="http://schemas.openxmlformats.org/officeDocument/2006/relationships/notesSlide" Target="/ppt/notesSlides/notesSlide13.xml" Id="R06b26ffb04e74a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080F35-2B6F-45B1-97FD-4729D31B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876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A0A0A"/>
                </a:solidFill>
              </a:defRPr>
            </a:pPr>
            <a:r>
              <a:rPr sz="4350" b="1">
                <a:solidFill>
                  <a:srgbClr val="0A0A0A"/>
                </a:solidFill>
              </a:rPr>
              <a:t>LeNet-5 on 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4B390B-DCF1-4A7F-89E1-D65B1AD1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Reproducing a classic CNN baseline and comparing it with modern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0DAC2-00E6-406E-8FCA-198DF7CF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F195A-71C3-458F-9183-2B5FFE88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98.87%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A57328-6D05-42AB-AE93-7ED52AD4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8DA504-2300-4732-BD33-7E86EE02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278C7-BEA4-44A9-A375-D7633C5F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60,000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1C18B7-F7CC-434F-A8BC-CDC5E321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 parameters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6261E-934E-4DF1-B3A5-B4837288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DE3426-D5A1-416D-B52C-94EC5921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125.94s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271168-F9DB-4D8F-BEFA-AFCC923E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CPU training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D7C80F-378D-4F11-A80D-6E44C882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Neural Networks Fundamentals | Project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DEC20F-7733-4753-925E-E1E9BCCE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</a:t>
            </a:r>
          </a:p>
        </p:txBody>
      </p:sp>
    </p:spTree>
    <p:extLst>
      <p:ext uri="{BB962C8B-B14F-4D97-AF65-F5344CB8AC3E}">
        <p14:creationId xmlns:p14="http://schemas.microsoft.com/office/powerpoint/2010/main" val="17110063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99D13B-14DA-4A37-AEED-EAC4B29C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task is simple enough to reveal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E12A8E-25FA-4F0A-95E2-25C86BC1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MNIST removes most data-engineering noise, so the architecture and training choices are easy to inspect.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9CC9F-BF1C-4EB9-8954-921BC1F8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45319-541C-4684-9A14-84CD0F83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D8CEF-6735-497C-A93D-CB127234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Input: centered grayscale handwritten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AACCFF-679D-4090-8DC8-931A22E3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53E4C-D0D9-4F88-9C0C-71FD0C29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Output: one of ten classes, 0 through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007B92-68CF-48A7-B4B2-6749E95B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02E60D-5574-41E1-90E6-F80E5FE9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Dataset: 60,000 train images and 10,000 test images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9B075E-019B-4216-8579-EC904A4C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A0EB6-6B6E-4451-9FD9-9AE007B2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Project goal: reproduce LeNet-style CNN behavior cleanly and reproducibly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14d1ea1e74d68"/>
          <a:stretch xmlns:a="http://schemas.openxmlformats.org/drawingml/2006/main"/>
        </p:blipFill>
        <p:spPr>
          <a:xfrm xmlns:a="http://schemas.openxmlformats.org/drawingml/2006/main">
            <a:off x="6858000" y="2266950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86B53A-6807-44ED-89DA-36CD4AE3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864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final demo loads the checkpoint and predicts a held-out MNIST digit.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415ED-1B68-4EA5-BC13-130B303F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2</a:t>
            </a:r>
          </a:p>
        </p:txBody>
      </p:sp>
    </p:spTree>
    <p:extLst>
      <p:ext uri="{BB962C8B-B14F-4D97-AF65-F5344CB8AC3E}">
        <p14:creationId xmlns:p14="http://schemas.microsoft.com/office/powerpoint/2010/main" val="11861703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DCD635-4F54-4EBF-AC3D-77C23831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LeNet-5 is small, structured, and historically specific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AD001-BB9B-49DC-90A5-AA9DC0B4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uses the original 32x32 input shape, partial connectivity, trainable subsampling, and RBF outputs.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053BC-52AF-407C-91B4-DAF5CAC3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5855B-83FB-4369-AD6A-EB37FC6D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031D7-251F-46EB-9C32-AC31E299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C0EDD-E7C9-48C1-88A1-1D944845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1x32x32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2EFDD-BE1F-476D-BFF5-8E3E86FF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AB9BC5-7A2B-4702-ACBD-646EEE23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B3AD18-6725-4300-A84A-DF0B39D2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58CFD9-F069-48C1-B8B9-74F4286A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 maps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8847C-0290-4AE5-A807-F5784C8F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9164D8-5FED-4024-BCD0-E1C65066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1E11-38DC-4F01-9812-869A24D2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0E8316-C898-4331-A48D-1282BF85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5C681-8A0C-4E3E-9F3C-F3AC8F3A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B8CFC8-1940-430A-B7CE-5B1413AB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2BDDB-59F9-48A8-87AC-3D77EBCA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93460-59B8-42BE-844E-196DE4455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partial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777CE9-BCF4-4B54-A454-299872DF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883743-4E34-4013-B25C-D037BB9F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705005-C725-48F4-8015-13164A25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S4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ABB77E-49DB-4686-80FF-72EEF2D0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D7B891-BF2F-42ED-AF40-FCBEC408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094005-D770-4B92-B0AF-38F999C1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B59805-1328-45F6-B679-0B878B6D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C5/F6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22A0FD-2130-4666-926A-A1D0B89E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120, 84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DC6D23-5F74-48A1-82C0-4689C2E5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79ADA5-2485-45DA-8C08-F84C66B7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BA43C3-A346-41AB-92AC-C0D93AA8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RBF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1CF27-9B51-4B76-AF1F-68146370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10 penalties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8578ED-3C57-4D8C-8034-0643B0C7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990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The model has exactly 60,000 trainable parameters and returns class penalties: lower RBF distance means a better class match.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5E2109-071D-484C-AAF2-C02B17DD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3</a:t>
            </a:r>
          </a:p>
        </p:txBody>
      </p:sp>
    </p:spTree>
    <p:extLst>
      <p:ext uri="{BB962C8B-B14F-4D97-AF65-F5344CB8AC3E}">
        <p14:creationId xmlns:p14="http://schemas.microsoft.com/office/powerpoint/2010/main" val="10293929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A8E7E3-4D86-4E7F-9332-929F9C03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implementation follows the historical LeNet-5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F872F-3988-499A-9E63-13EE1E1F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main remaining difference is optimizer choice, not the architecture or output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16DC21-60DD-474F-9F34-97972CB9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4CB843-1DA5-43C2-ABD4-C926ECA0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FEA00-8424-4EA3-8F5D-336FA1EF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1B916D-96E5-4681-ACD0-EB40F922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32x32 input, C1/S2/C3/S4/C5/F6 sizes, partial C3 connectivity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E92ABB-DD17-4003-8CB3-3355B63F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188926-FDCE-486B-BB97-4E66C9DA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76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DD63E-09EC-4990-94A2-93C3744B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fixed Euclidean RBF prototypes with 84-dimensional +1/-1 targets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AE7BD3-1FB9-4FD3-B746-A4A5BEFB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65972-C86F-4EDF-A2B8-ADF50B26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00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A5CB3-FF03-4706-8100-31161427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053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MAP-style penalty loss; Adam completed run; SGD prepared as closer historical rerun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220B4A-DE51-4616-A8DE-6B56444E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4</a:t>
            </a:r>
          </a:p>
        </p:txBody>
      </p:sp>
    </p:spTree>
    <p:extLst>
      <p:ext uri="{BB962C8B-B14F-4D97-AF65-F5344CB8AC3E}">
        <p14:creationId xmlns:p14="http://schemas.microsoft.com/office/powerpoint/2010/main" val="1595542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42FAC5-6A45-4942-9560-A7163FF8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training run is deliberately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6449AF-8043-41BD-AAAA-068CB2CC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final reported run uses a fixed seed and saves the best validation checkpoint.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386C0-2A04-441A-81DC-2F33F17F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EE266-D94E-4090-8FFF-9959F0EF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382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580A4-0275-40B9-A0B4-A84F526E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6225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C17FB3-3CEE-4CD9-8D8B-9F307268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epochs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75A0A4-841D-46D9-8F3E-3DD05D90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622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128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27237-20ED-42BE-A15D-FA279D52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48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batch size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D9D92D-869E-445C-AAD3-286D8095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622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0.001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B89EB-7913-4FF0-8EDD-EEF9A6BE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48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learning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A9121D-C92D-4397-94AE-79366BBC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62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5,000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F586A-9796-4A4D-9ACA-062F64D3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480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validation split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58CD8-B163-4EA0-8268-759B45F8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Optimizer: Adam result, SGD rerun prepared | Loss: LeNet MAP-style RBF penalty | Seed: 42 | Device: CPU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FC627-0474-482F-9787-AE727161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5</a:t>
            </a:r>
          </a:p>
        </p:txBody>
      </p:sp>
    </p:spTree>
    <p:extLst>
      <p:ext uri="{BB962C8B-B14F-4D97-AF65-F5344CB8AC3E}">
        <p14:creationId xmlns:p14="http://schemas.microsoft.com/office/powerpoint/2010/main" val="1828455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2AE548-7DAB-49B2-91F5-03DE9037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small CNN reaches high accuracy in seconds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F6FD2-153F-4198-AD32-2FB4B759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Final cluster run results from outputs/metrics.json.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3E66A4-AB53-4BFF-83A2-08ADE0B1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056B5-21F9-425A-946D-9C17F0AD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98.64%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1D4636-22E7-4E68-9A78-C6DDBEE0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best validation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13E67E-D4C2-47A9-970B-4B058BA6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98.87%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F675B-2B96-4757-8B2A-551ADA33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4159AC-33DA-4BCF-9757-F7DE8AD7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DD1BEF-D8EF-45EB-9EE0-8DEFBB4D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error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0125B9-B395-44E4-9B5D-C9449450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962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E61FD3-81B2-41EC-AAC7-DD006F0F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720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This satisfies the course feasibility constraint comfortably: the full final run trained end-to-end on CPU in 125.94 seconds.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647747-759B-464C-A885-681EDA32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6</a:t>
            </a:r>
          </a:p>
        </p:txBody>
      </p:sp>
    </p:spTree>
    <p:extLst>
      <p:ext uri="{BB962C8B-B14F-4D97-AF65-F5344CB8AC3E}">
        <p14:creationId xmlns:p14="http://schemas.microsoft.com/office/powerpoint/2010/main" val="2351398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70DA0E-030A-419A-9232-9614110D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Training is stable across the 20-epoch historical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1737F-F844-4531-962A-2B97F29F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Loss continues to improve while validation accuracy plateaus near 98.6%.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EA4C7-4813-458E-B1C7-A06B6B2B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83caf3ff80428e"/>
          <a:stretch xmlns:a="http://schemas.openxmlformats.org/drawingml/2006/main"/>
        </p:blipFill>
        <p:spPr>
          <a:xfrm xmlns:a="http://schemas.openxmlformats.org/drawingml/2006/main">
            <a:off x="1650206" y="2095500"/>
            <a:ext cx="8358188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88064-EC1C-4E4B-BE6B-53B7B441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7</a:t>
            </a:r>
          </a:p>
        </p:txBody>
      </p:sp>
    </p:spTree>
    <p:extLst>
      <p:ext uri="{BB962C8B-B14F-4D97-AF65-F5344CB8AC3E}">
        <p14:creationId xmlns:p14="http://schemas.microsoft.com/office/powerpoint/2010/main" val="10029241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75A699-1223-4C26-A092-9732F913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Most errors are rare and concentrated among similar digits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E2C9B-CCD7-4786-B398-3443427B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confusion matrix shows strong diagonal performance across all ten classes.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280F71-F600-4403-A69A-D02E66CF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ffcd1b67b4bcf"/>
          <a:stretch xmlns:a="http://schemas.openxmlformats.org/drawingml/2006/main"/>
        </p:blipFill>
        <p:spPr>
          <a:xfrm xmlns:a="http://schemas.openxmlformats.org/drawingml/2006/main">
            <a:off x="1765300" y="2000250"/>
            <a:ext cx="4889500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64BB6-9334-455D-B677-BF1254C5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81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24D8A-A96E-49C0-BABB-1B9851EC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Most predictions lie on the diagonal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A813EF-654A-4AF9-9DBB-D8C10D84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5DEF96-A218-4FC1-9570-C2F6821A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432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Remaining mistakes are sparse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1D274-D66F-4D04-BAFA-0D51D875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9C5F8B-0DE7-4E18-AF69-3167F10C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004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Errors usually involve similar digit shapes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A6E7BD-8EC6-4BFD-833C-FB78F40F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ABA25B-8509-4B67-98FF-4A8597E8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576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Accuracy alone still does not prove robustness on real handwriting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B08F06-5F07-4FBA-B85C-D78A99D0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8</a:t>
            </a:r>
          </a:p>
        </p:txBody>
      </p:sp>
    </p:spTree>
    <p:extLst>
      <p:ext uri="{BB962C8B-B14F-4D97-AF65-F5344CB8AC3E}">
        <p14:creationId xmlns:p14="http://schemas.microsoft.com/office/powerpoint/2010/main" val="15590358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950F0C-C03A-46D1-9050-F5451F18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wow demo classifies a digit drawn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34DB8-5515-4222-B5E8-F8AB1D72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browser canvas sends the drawing to the trained PyTorch checkpoint and returns class probabilities.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FD7F9-0F4B-465B-82F2-5B375FBE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4DCF53-152D-41AB-A0DB-A037E17D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7338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17C11-F257-4B98-8D90-FF936907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57450"/>
            <a:ext cx="22098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350" b="1">
                <a:solidFill>
                  <a:srgbClr val="FFFFFF"/>
                </a:solidFill>
              </a:defRPr>
            </a:pPr>
            <a:r>
              <a:rPr sz="133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00592-00C1-4AA9-8B1E-DA2F69ED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193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0A0A"/>
                </a:solidFill>
              </a:defRPr>
            </a:pPr>
            <a:r>
              <a:rPr sz="2550" b="1">
                <a:solidFill>
                  <a:srgbClr val="0A0A0A"/>
                </a:solidFill>
              </a:rPr>
              <a:t>python app.py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DB05A-6765-45A0-8698-CA64E5D8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289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A0A0A"/>
                </a:solidFill>
              </a:defRPr>
            </a:pPr>
            <a:r>
              <a:rPr sz="2100" b="0">
                <a:solidFill>
                  <a:srgbClr val="0A0A0A"/>
                </a:solidFill>
              </a:rPr>
              <a:t>Open http://127.0.0.1:5000, draw a digit, and click Classify.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7C87BA-2A45-428B-9FA1-BEA10EA3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207E1-87E5-4C2C-915F-333BD93A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386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Uses the committed checkpoint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078780-01B3-4FAD-9B99-1DFBFCB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52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729542-58A9-4D3D-9E6A-34DA5C9F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577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Crops and rescales the browser drawing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6D94B8-96DD-49FA-9BB1-82CBCC8B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72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1FCE37-A260-4929-AA91-ABA2580D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768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Shows prediction plus probability bars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1C5F14-6478-4ABE-89F1-AF8F3983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391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5EE2AA-6CBB-440B-BCFA-2A251497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Backup: python demo.py --sample-index 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ED0E8-BC38-4BF6-88B3-23C2B446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9</a:t>
            </a:r>
          </a:p>
        </p:txBody>
      </p:sp>
    </p:spTree>
    <p:extLst>
      <p:ext uri="{BB962C8B-B14F-4D97-AF65-F5344CB8AC3E}">
        <p14:creationId xmlns:p14="http://schemas.microsoft.com/office/powerpoint/2010/main" val="12603287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070CBE-7E38-405F-9853-52E7B62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matched the historical range, but not the best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C2CDB5-CFFA-44F2-B22A-12C69C57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LeCun et al. reported about 0.8-0.95% MNIST test error for LeNet-5.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510090-3287-47FE-8A08-3C9C59AE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169587-B235-42CD-A883-BF7F74BE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FE66E-9B3B-4FF0-AB6D-78C3EA26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0.8-0.95%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50C58D-77C7-4831-9E8E-9D750B76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LeNet-5 reported by LeCun et 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4214F9-E0C2-422A-B4DC-277A50B4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74B6F-9444-44A2-87C9-F85C22D8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53A87-D3B2-4C82-A229-1A029616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our reproduction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726644-165D-49C2-9CE2-A12A402B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482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Gap: 0.18 points vs. the 0.95% run; 0.33 points vs. the best 0.8% figure.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1AA23-B3D2-4242-AB83-B3FB4E91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10</a:t>
            </a:r>
          </a:p>
        </p:txBody>
      </p:sp>
    </p:spTree>
    <p:extLst>
      <p:ext uri="{BB962C8B-B14F-4D97-AF65-F5344CB8AC3E}">
        <p14:creationId xmlns:p14="http://schemas.microsoft.com/office/powerpoint/2010/main" val="17018851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A361BB-4891-4927-9E09-97827CDA5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gap is explainable from engineering choices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813DA-E3CB-4CFE-AD70-409DFA5E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favors clarity and reproducibility over historical exactness.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57AEC-4649-419F-9C34-EAEBA092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71BAC-3864-4698-8F77-6B00E7A2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46B29-7942-4BE8-BBFC-3D7605DB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Original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278730-A3C6-45CF-B5C5-35DCE849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feature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RBF-style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Older optimizer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Possible distortions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84DBB8-DA47-4794-ACFE-CFAF381C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C5A1DA-69DF-47B8-9746-D84B1DA1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This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19990-111F-4562-9A3E-9ED13818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padded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C3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Fixed RBF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MAP-style loss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SGD optimizer prepared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6BD36C-CD3C-4AC6-92CE-F9C684FC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01909-1E4F-4A79-BB31-7E5C6DB4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Effect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9BC20-11FE-437E-87CA-E745148A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Historical architecture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60,000 parameters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Clear comparison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Still easy to run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Honest limitations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13A667-F85A-4E4A-A5BB-F348174D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11</a:t>
            </a:r>
          </a:p>
        </p:txBody>
      </p:sp>
    </p:spTree>
    <p:extLst>
      <p:ext uri="{BB962C8B-B14F-4D97-AF65-F5344CB8AC3E}">
        <p14:creationId xmlns:p14="http://schemas.microsoft.com/office/powerpoint/2010/main" val="7665587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E4FFE5-7E43-4E2F-A75F-C129D5B8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ResNet-18 is more accurate but far less efficient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2B9CC-37DD-4C57-A0DF-2CA92CCE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modern baseline improves accuracy by 0.31 percentage points, but with a much larger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4B44D-B3BD-48CD-9494-0A6B6E84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1F091B-E493-4CD9-9622-BD0D63AE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BDA21-B811-4E2F-AE80-35E7DB2C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LeNet-5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C89F69-BB0C-400E-BD94-5F625742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75D3B3-2E20-4A7B-A6FD-3B512937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98.87% 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6272A7-1124-4034-8768-63EAB74B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F07C06-6466-4DB6-84D7-1F41382B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60,000 parameters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A5551-C25C-4489-948B-C3691855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999EB-0AB8-47CD-A9BB-455634C4D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125.94 s CPU 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8EED2F-83D6-4DF9-A829-E419395B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D77C47-9456-4852-BE15-C1C9BE69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0.26 MB checkpoint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0455B9-F903-4702-BCD0-76D970BB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925996-4CD8-40C9-AC7A-CEBA439C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ResNet-18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7C8E28-2C94-4C37-A4DA-46176C8F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5F008A-2C47-42DA-B556-FAA083C1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337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99.18% test accuracy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9E0330-C7E8-4260-A4E7-411A917E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718E46-F2AF-49FF-8B4E-FC81F7BA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6957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11,172,810 parameters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2964B9-3D84-42F7-BFD9-61D220D3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56383E-F51A-49AC-A299-7396406B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576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726.28 s CPU training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6E972D-C279-4B62-A5AA-A66D9FFB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14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4C4049-9339-4E21-9219-29AF71C1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196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A0A0A"/>
                </a:solidFill>
              </a:defRPr>
            </a:pPr>
            <a:r>
              <a:rPr sz="1575" b="0">
                <a:solidFill>
                  <a:srgbClr val="0A0A0A"/>
                </a:solidFill>
              </a:rPr>
              <a:t>44.77 MB checkpoint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5E4A15-EB58-45D5-A766-7D4D2B46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007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For MNIST, ResNet wins on accuracy; LeNet wins on simplicity, speed, and explainability.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61F555-CE5A-4767-A6AA-B6F79DE1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12</a:t>
            </a:r>
          </a:p>
        </p:txBody>
      </p:sp>
    </p:spTree>
    <p:extLst>
      <p:ext uri="{BB962C8B-B14F-4D97-AF65-F5344CB8AC3E}">
        <p14:creationId xmlns:p14="http://schemas.microsoft.com/office/powerpoint/2010/main" val="4664139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74C7EE-2D13-4CE6-A13B-261C4CFE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project succeeds as a clean, honest reproduction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F47208-E1D9-4372-88F1-B227DB46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small CNN, trained end-to-end, gives high accuracy and a clear explanation of what changed from 1998.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7FB368-7BA8-4C87-941A-836D6DB8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FC8FF-A900-4372-9DAE-F082632C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096BB-03AD-472E-9EF2-4A26986E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955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Working training, evaluation, figure, and demo scripts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3835FE-5CF0-4408-A2AA-041CF865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DC630-2F12-4E94-BBF8-803A47FC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99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Final checkpoint and results committed to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FDE3A4-6F6A-4257-8ABF-334FCEEC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4B77F3-D025-48AB-B491-0EB450C7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242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98.87% test accuracy with a 60,000-parameter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C9592-71BA-437A-A490-FB3A3ED7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1FC57-CB88-4658-AF46-DA50AD0E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386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Limitations are explicit instead of hidden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26C1F-A5C0-46EC-ACEF-E2662D6D9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000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A5AB41-64B6-4C29-8C20-CAF35ECA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Takeaway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3B04CD-67F4-4B87-AAAD-BF149B7B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133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LeNet still teaches the core CNN idea clearly.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FFF173-1EAF-459F-8C46-5BB5CA1F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13</a:t>
            </a:r>
          </a:p>
        </p:txBody>
      </p:sp>
    </p:spTree>
    <p:extLst>
      <p:ext uri="{BB962C8B-B14F-4D97-AF65-F5344CB8AC3E}">
        <p14:creationId xmlns:p14="http://schemas.microsoft.com/office/powerpoint/2010/main" val="3523149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2026-07-01T16:29:23.2360000Z</dcterms:created>
  <dcterms:modified xsi:type="dcterms:W3CDTF">2026-07-01T16:29:23.2370000Z</dcterms:modified>
</coreProperties>
</file>