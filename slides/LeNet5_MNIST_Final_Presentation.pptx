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6a492cd5f949b9" /><Relationship Type="http://schemas.openxmlformats.org/officeDocument/2006/relationships/extended-properties" Target="/docProps/app.xml" Id="R874117890045487e" /><Relationship Type="http://schemas.openxmlformats.org/officeDocument/2006/relationships/officeDocument" Target="/ppt/presentation.xml" Id="R94ad7e15a48842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4979a7c3f64364"/>
  </p:sldMasterIdLst>
  <p:notesMasterIdLst>
    <p:notesMasterId xmlns:r="http://schemas.openxmlformats.org/officeDocument/2006/relationships" r:id="R2ba900624dc04c4f"/>
  </p:notesMasterIdLst>
  <p:sldIdLst>
    <p:sldId xmlns:r="http://schemas.openxmlformats.org/officeDocument/2006/relationships" id="256" r:id="Rffccf592ce7f466e"/>
    <p:sldId xmlns:r="http://schemas.openxmlformats.org/officeDocument/2006/relationships" id="257" r:id="R6a317b29fe914a08"/>
    <p:sldId xmlns:r="http://schemas.openxmlformats.org/officeDocument/2006/relationships" id="258" r:id="R6833c4514d0e4f48"/>
    <p:sldId xmlns:r="http://schemas.openxmlformats.org/officeDocument/2006/relationships" id="259" r:id="R3293c5352e724922"/>
    <p:sldId xmlns:r="http://schemas.openxmlformats.org/officeDocument/2006/relationships" id="260" r:id="R91ecd9758a504d5e"/>
    <p:sldId xmlns:r="http://schemas.openxmlformats.org/officeDocument/2006/relationships" id="261" r:id="R6c5d5488cf2b453f"/>
    <p:sldId xmlns:r="http://schemas.openxmlformats.org/officeDocument/2006/relationships" id="262" r:id="R76b0ad92bf6647bc"/>
    <p:sldId xmlns:r="http://schemas.openxmlformats.org/officeDocument/2006/relationships" id="263" r:id="R328e0ce72b6b4c07"/>
    <p:sldId xmlns:r="http://schemas.openxmlformats.org/officeDocument/2006/relationships" id="264" r:id="R6e1d617449e3449d"/>
    <p:sldId xmlns:r="http://schemas.openxmlformats.org/officeDocument/2006/relationships" id="265" r:id="R607c677f4f4e4797"/>
    <p:sldId xmlns:r="http://schemas.openxmlformats.org/officeDocument/2006/relationships" id="266" r:id="R0ad80cbd5cf44bd7"/>
    <p:sldId xmlns:r="http://schemas.openxmlformats.org/officeDocument/2006/relationships" id="267" r:id="Rab5c5287a8ac474c"/>
    <p:sldId xmlns:r="http://schemas.openxmlformats.org/officeDocument/2006/relationships" id="268" r:id="R789801b788ab489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34bfddb798405a" /><Relationship Type="http://schemas.openxmlformats.org/officeDocument/2006/relationships/slideMaster" Target="/ppt/slideMasters/slideMaster1.xml" Id="Rcd4979a7c3f64364" /><Relationship Type="http://schemas.openxmlformats.org/officeDocument/2006/relationships/notesMaster" Target="/ppt/notesMasters/notesMaster1.xml" Id="R2ba900624dc04c4f" /><Relationship Type="http://schemas.openxmlformats.org/officeDocument/2006/relationships/presProps" Target="/ppt/presProps.xml" Id="R6e63f366a58c4ac3" /><Relationship Type="http://schemas.openxmlformats.org/officeDocument/2006/relationships/tableStyles" Target="/ppt/tableStyles.xml" Id="R6134007c98674999" /><Relationship Type="http://schemas.openxmlformats.org/officeDocument/2006/relationships/slide" Target="/ppt/slides/slide1.xml" Id="Rffccf592ce7f466e" /><Relationship Type="http://schemas.openxmlformats.org/officeDocument/2006/relationships/slide" Target="/ppt/slides/slide2.xml" Id="R6a317b29fe914a08" /><Relationship Type="http://schemas.openxmlformats.org/officeDocument/2006/relationships/slide" Target="/ppt/slides/slide3.xml" Id="R6833c4514d0e4f48" /><Relationship Type="http://schemas.openxmlformats.org/officeDocument/2006/relationships/slide" Target="/ppt/slides/slide4.xml" Id="R3293c5352e724922" /><Relationship Type="http://schemas.openxmlformats.org/officeDocument/2006/relationships/slide" Target="/ppt/slides/slide5.xml" Id="R91ecd9758a504d5e" /><Relationship Type="http://schemas.openxmlformats.org/officeDocument/2006/relationships/slide" Target="/ppt/slides/slide6.xml" Id="R6c5d5488cf2b453f" /><Relationship Type="http://schemas.openxmlformats.org/officeDocument/2006/relationships/slide" Target="/ppt/slides/slide7.xml" Id="R76b0ad92bf6647bc" /><Relationship Type="http://schemas.openxmlformats.org/officeDocument/2006/relationships/slide" Target="/ppt/slides/slide8.xml" Id="R328e0ce72b6b4c07" /><Relationship Type="http://schemas.openxmlformats.org/officeDocument/2006/relationships/slide" Target="/ppt/slides/slide9.xml" Id="R6e1d617449e3449d" /><Relationship Type="http://schemas.openxmlformats.org/officeDocument/2006/relationships/slide" Target="/ppt/slides/slide10.xml" Id="R607c677f4f4e4797" /><Relationship Type="http://schemas.openxmlformats.org/officeDocument/2006/relationships/slide" Target="/ppt/slides/slide11.xml" Id="R0ad80cbd5cf44bd7" /><Relationship Type="http://schemas.openxmlformats.org/officeDocument/2006/relationships/slide" Target="/ppt/slides/slide12.xml" Id="Rab5c5287a8ac474c" /><Relationship Type="http://schemas.openxmlformats.org/officeDocument/2006/relationships/slide" Target="/ppt/slides/slide13.xml" Id="R789801b788ab48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35c104208e4a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8861d6f8904e81" /><Relationship Type="http://schemas.openxmlformats.org/officeDocument/2006/relationships/notesMaster" Target="/ppt/notesMasters/notesMaster1.xml" Id="Ra29dad291f314f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04aba8ca424f52" /><Relationship Type="http://schemas.openxmlformats.org/officeDocument/2006/relationships/notesMaster" Target="/ppt/notesMasters/notesMaster1.xml" Id="Rdde79c0c564447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66c7cbc3734047" /><Relationship Type="http://schemas.openxmlformats.org/officeDocument/2006/relationships/notesMaster" Target="/ppt/notesMasters/notesMaster1.xml" Id="R075792ad462d4aa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c4a74575c84ffd" /><Relationship Type="http://schemas.openxmlformats.org/officeDocument/2006/relationships/notesMaster" Target="/ppt/notesMasters/notesMaster1.xml" Id="R395e50af909140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c2156034b44ed3" /><Relationship Type="http://schemas.openxmlformats.org/officeDocument/2006/relationships/notesMaster" Target="/ppt/notesMasters/notesMaster1.xml" Id="R07a1cdf0935e4f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256598fce24a6b" /><Relationship Type="http://schemas.openxmlformats.org/officeDocument/2006/relationships/notesMaster" Target="/ppt/notesMasters/notesMaster1.xml" Id="R6f3faf1ad5cd41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c0814071114ace" /><Relationship Type="http://schemas.openxmlformats.org/officeDocument/2006/relationships/notesMaster" Target="/ppt/notesMasters/notesMaster1.xml" Id="Re90ba98963d4474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afa66c60074950" /><Relationship Type="http://schemas.openxmlformats.org/officeDocument/2006/relationships/notesMaster" Target="/ppt/notesMasters/notesMaster1.xml" Id="R133333a8fe5b4cf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f04872af3644d92" /><Relationship Type="http://schemas.openxmlformats.org/officeDocument/2006/relationships/notesMaster" Target="/ppt/notesMasters/notesMaster1.xml" Id="Rc0a6f661a9f54f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3e88ca219ab455d" /><Relationship Type="http://schemas.openxmlformats.org/officeDocument/2006/relationships/notesMaster" Target="/ppt/notesMasters/notesMaster1.xml" Id="R3f5d1cc68ffb48c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6a13e589ad04090" /><Relationship Type="http://schemas.openxmlformats.org/officeDocument/2006/relationships/notesMaster" Target="/ppt/notesMasters/notesMaster1.xml" Id="Rf6e3213791da470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bda9df9c1324061" /><Relationship Type="http://schemas.openxmlformats.org/officeDocument/2006/relationships/notesMaster" Target="/ppt/notesMasters/notesMaster1.xml" Id="R5ab0a745b5bf4c1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4c7a79e62a482a" /><Relationship Type="http://schemas.openxmlformats.org/officeDocument/2006/relationships/notesMaster" Target="/ppt/notesMasters/notesMaster1.xml" Id="Ref332a6e5b714a1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caf536587647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d7f382372947d3" /><Relationship Type="http://schemas.openxmlformats.org/officeDocument/2006/relationships/slideLayout" Target="/ppt/slideLayouts/slideLayout1.xml" Id="Rf6ad2f5db80a4f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ad2f5db80a4f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681ccc3afc4468" /><Relationship Type="http://schemas.openxmlformats.org/officeDocument/2006/relationships/notesSlide" Target="/ppt/notesSlides/notesSlide1.xml" Id="Rd2ed71c3e7394b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74c3f381cc49cd" /><Relationship Type="http://schemas.openxmlformats.org/officeDocument/2006/relationships/image" Target="/ppt/media/image.png" Id="Ref0b4ec996a9481c" /><Relationship Type="http://schemas.openxmlformats.org/officeDocument/2006/relationships/notesSlide" Target="/ppt/notesSlides/notesSlide2.xml" Id="R5775f710dbe546f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cfe5809044ce0" /><Relationship Type="http://schemas.openxmlformats.org/officeDocument/2006/relationships/notesSlide" Target="/ppt/notesSlides/notesSlide3.xml" Id="Rc3c1178fd65047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3ecf10cee47b1" /><Relationship Type="http://schemas.openxmlformats.org/officeDocument/2006/relationships/notesSlide" Target="/ppt/notesSlides/notesSlide4.xml" Id="R564e81714fea4d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a31666b98c400d" /><Relationship Type="http://schemas.openxmlformats.org/officeDocument/2006/relationships/notesSlide" Target="/ppt/notesSlides/notesSlide5.xml" Id="R5885546587e040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c9544bd6d4f7e" /><Relationship Type="http://schemas.openxmlformats.org/officeDocument/2006/relationships/notesSlide" Target="/ppt/notesSlides/notesSlide6.xml" Id="Rcbefcdae12024e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436715ea1b4f0a" /><Relationship Type="http://schemas.openxmlformats.org/officeDocument/2006/relationships/image" Target="/ppt/media/image2.png" Id="Rf7dc9ed16d174dc2" /><Relationship Type="http://schemas.openxmlformats.org/officeDocument/2006/relationships/notesSlide" Target="/ppt/notesSlides/notesSlide7.xml" Id="R615ff9e5dec142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900c72d25d49ae" /><Relationship Type="http://schemas.openxmlformats.org/officeDocument/2006/relationships/image" Target="/ppt/media/image3.png" Id="Rd191008085dd402d" /><Relationship Type="http://schemas.openxmlformats.org/officeDocument/2006/relationships/notesSlide" Target="/ppt/notesSlides/notesSlide8.xml" Id="R1e0fa4ee3a914a4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0babd3fc59409f" /><Relationship Type="http://schemas.openxmlformats.org/officeDocument/2006/relationships/notesSlide" Target="/ppt/notesSlides/notesSlide9.xml" Id="Rb9bf167c1ad1468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b07a04a284390" /><Relationship Type="http://schemas.openxmlformats.org/officeDocument/2006/relationships/notesSlide" Target="/ppt/notesSlides/notesSlide10.xml" Id="R83c552f6767d4a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435098741249b4" /><Relationship Type="http://schemas.openxmlformats.org/officeDocument/2006/relationships/notesSlide" Target="/ppt/notesSlides/notesSlide11.xml" Id="Rc132feaffcb4403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3e442501e0487a" /><Relationship Type="http://schemas.openxmlformats.org/officeDocument/2006/relationships/notesSlide" Target="/ppt/notesSlides/notesSlide12.xml" Id="Rc357ec20e805478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6bfd3360894da9" /><Relationship Type="http://schemas.openxmlformats.org/officeDocument/2006/relationships/notesSlide" Target="/ppt/notesSlides/notesSlide13.xml" Id="R5303f9eba268472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26B09A-0E7B-4643-81D6-1C588A0D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876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A0A0A"/>
                </a:solidFill>
              </a:defRPr>
            </a:pPr>
            <a:r>
              <a:rPr sz="4350" b="1">
                <a:solidFill>
                  <a:srgbClr val="0A0A0A"/>
                </a:solidFill>
              </a:rPr>
              <a:t>LeNet-5 on MNIST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114B7A-74BA-4249-BF2D-283503F1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Reproducing a classic CNN baseline and comparing it with modern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E22012-B88F-4200-9EFE-6F087FFB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21D51-C186-4B12-82BC-B9518DBD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98.87%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061C78-C956-4AD1-B322-8BECF9BD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307607-206E-4DE6-9236-86ECA2A2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8D3C03-3FAE-40C9-BC86-BA051AC3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60,000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A2FE1C-55BE-41C3-A523-BEE51AE0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 parameters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B4E7EB-7B06-40E6-B744-D6585B58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211E83-7A00-4F67-BC42-991F8834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E6F9E"/>
                </a:solidFill>
              </a:defRPr>
            </a:pPr>
            <a:r>
              <a:rPr sz="3750" b="1">
                <a:solidFill>
                  <a:srgbClr val="2E6F9E"/>
                </a:solidFill>
              </a:rPr>
              <a:t>125.94s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32D59F-510A-4327-BCA7-37130262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CPU training 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B6A0E4-108D-4E5A-86BF-D79A91B8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76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Neural Networks Fundamentals | Project 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6D4EE0-864E-46A0-BC05-C4F9016E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</a:t>
            </a:r>
          </a:p>
        </p:txBody>
      </p:sp>
    </p:spTree>
    <p:extLst>
      <p:ext uri="{BB962C8B-B14F-4D97-AF65-F5344CB8AC3E}">
        <p14:creationId xmlns:p14="http://schemas.microsoft.com/office/powerpoint/2010/main" val="2519726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04B32C-622C-4770-9A7C-6B623793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task is simple enough to reveal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C11851-3633-44CF-8E12-3940C4E0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MNIST removes most data-engineering noise, so the architecture and training choices are easy to inspect.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93393A-E01B-4B54-93C6-1C34E112A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A4C8D5-73D8-4DE2-B3DA-4907B71A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60CD91-DF74-49F2-85B1-307EEECC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Input: centered grayscale handwritten digit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1DF3C3-9F54-4719-A480-377754D3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9268B3-B1A5-4CEF-AEB4-DC7C4E32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Output: one of ten classes, 0 through 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BA89A7-618B-4E01-95E5-9005F246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CF574D-17A3-4A73-801A-E8D218E0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480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Dataset: 60,000 train images and 10,000 test images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690935-4662-4118-B0C8-1942D9EA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8D604-903E-4191-9A02-8125AEE5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Project goal: reproduce LeNet-style CNN behavior cleanly and reproducibly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0b4ec996a9481c"/>
          <a:stretch xmlns:a="http://schemas.openxmlformats.org/drawingml/2006/main"/>
        </p:blipFill>
        <p:spPr>
          <a:xfrm xmlns:a="http://schemas.openxmlformats.org/drawingml/2006/main">
            <a:off x="6858000" y="2266950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C1CCD1-5948-4910-B271-60A4E6F8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864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final demo loads the checkpoint and predicts a held-out MNIST digit.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295CE2-BA1B-49A3-9785-79011FFA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2</a:t>
            </a:r>
          </a:p>
        </p:txBody>
      </p:sp>
    </p:spTree>
    <p:extLst>
      <p:ext uri="{BB962C8B-B14F-4D97-AF65-F5344CB8AC3E}">
        <p14:creationId xmlns:p14="http://schemas.microsoft.com/office/powerpoint/2010/main" val="15902234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623ED2-C49B-4DB5-98BB-174B3314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LeNet-5 is small, structured, and historically specific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87261-3B36-4FD5-902B-8D7A975E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reproduction uses the original 32x32 input shape, partial connectivity, trainable subsampling, and RBF outputs.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076A5-19EF-445F-8307-A3AF2032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D60B0-4EBA-4035-907F-0BECEB93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066EB0-4FBF-4BAE-A610-E2BDB98C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EC982-46B7-4BA8-B33B-32E3570A6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1x32x32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44F5D1-9C37-47F3-8CE6-7FDAFD448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C02FE-76F9-448A-A21A-1805D507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FF7F12-67A8-4ADB-99FC-2CDBF5AC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08FA7F-4400-4A84-B425-C7B5F304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6 maps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D4A0F0-65C7-4F50-BDB0-08EF099A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EB6E74-B55E-435D-8284-4A62666F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D043D8-1964-486C-9CFD-8ED86065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S2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64693C-F4F8-47F5-924E-4ACB3694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1FAAFE-9676-4240-AB39-5C7AAF96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C193F9-D788-4B1E-A637-1521041E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54F1EF-4E19-4565-8C4E-79FA23EC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900086-CCFD-4AC3-946F-4E29A815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partial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B91F5B-E85A-4C7B-9866-52854BE7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D74AD8-F41E-4E9F-BB4C-9E7DE728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CDBACB-0899-45DA-9BD8-CBCD0CEB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S4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FCBDD2-C5C6-4F7E-9807-7BEEC405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A59551-180E-4D7F-AAA6-255210E5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2B2EAD-23BE-4FB7-88DC-BB59B295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BDB100-9FF7-4362-92E6-B93C0B71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C5/F6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654CFA-3AB4-4D58-AF44-CC2F218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120, 84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E089E5-B51E-4A03-884C-2A93105C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C4707B-BEC7-4172-9A9D-A3A5E483D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ECD5E0-10DB-476D-8DC2-800A4E34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RBF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1E47FD-88C1-4514-ACFB-37DDE6BC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10 penalties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AF695F-D2B8-4177-A17C-754E0B15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1050"/>
            <a:ext cx="990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The model has exactly 60,000 trainable parameters and returns class penalties: lower RBF distance means a better class match.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94340A-D8AB-44CE-B7F2-A3F1E62A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3</a:t>
            </a:r>
          </a:p>
        </p:txBody>
      </p:sp>
    </p:spTree>
    <p:extLst>
      <p:ext uri="{BB962C8B-B14F-4D97-AF65-F5344CB8AC3E}">
        <p14:creationId xmlns:p14="http://schemas.microsoft.com/office/powerpoint/2010/main" val="17326605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19AEC3-0881-4219-B43E-9EF7FAD6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implementation follows the historical LeNet-5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E2F8B5-27A1-4AC0-9F09-FACB2D3E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main remaining difference is optimizer choice, not the architecture or output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15335C-0728-423A-B52C-65F73AFC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1E59D0-D3EF-4E91-A20D-426E8AB9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D55C09-65A3-45BB-A4E6-9B20D84C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527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50D13-898A-4D99-BE7D-ECAF8E0B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574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32x32 input, C1/S2/C3/S4/C5/F6 sizes, partial C3 connectivity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054030-A260-4BCC-9709-9BA9AA38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FCADA8-6C31-4F11-B490-1C0B7D02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766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02A976-E904-4ECC-8B77-164C2E38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fixed Euclidean RBF prototypes with 84-dimensional +1/-1 targets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4CBE26-4716-4986-B7D0-37D77EA7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C98B8D-DDD4-43EF-9767-F46DA8D1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006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4CBA08-F55F-4906-97A3-46325457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7053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MAP-style penalty loss; Adam completed result; SGD supported for closer historical rerun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0BC6FB-C000-4730-BF7A-664F3597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4</a:t>
            </a:r>
          </a:p>
        </p:txBody>
      </p:sp>
    </p:spTree>
    <p:extLst>
      <p:ext uri="{BB962C8B-B14F-4D97-AF65-F5344CB8AC3E}">
        <p14:creationId xmlns:p14="http://schemas.microsoft.com/office/powerpoint/2010/main" val="19082694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9E8CA6-D9E8-48C7-955D-E4491310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training run is deliberately reproducible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ED76CF-5ED5-4208-9442-4864973E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final reported run uses a fixed seed and saves the best validation checkpoint.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024E8-EB15-4B05-800C-4CC9D01C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AEC8EF-9A8D-473B-8D1B-6CB8200B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0382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16D26-6116-4CE7-B1B7-82F69D69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62250"/>
            <a:ext cx="161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D9CC1A-A40E-4FF5-9BCB-B60D307A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epochs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EEFA4-1A79-4274-A9EF-CCD0434D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622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128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5190-235B-472E-AF6B-1ADE12FF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480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batch size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D6FACA-D3AD-45C7-844A-378ACB49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622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0.001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CE373F-3749-4D63-874C-A7746EE1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48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learning 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106066-8026-4A97-BB84-3D78D454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622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5,000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DF340-C851-422F-AFE8-605363E6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480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validation split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ACB5F-EF44-4358-B4D6-40664016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Optimizer: Adam result; SGD supported | Loss: LeNet MAP-style RBF penalty | Seed: 42 | Device: CPU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B041E6-F537-4C3A-A997-E611F997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5</a:t>
            </a:r>
          </a:p>
        </p:txBody>
      </p:sp>
    </p:spTree>
    <p:extLst>
      <p:ext uri="{BB962C8B-B14F-4D97-AF65-F5344CB8AC3E}">
        <p14:creationId xmlns:p14="http://schemas.microsoft.com/office/powerpoint/2010/main" val="2082829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ABFE36-501D-411D-8976-4F176331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small CNN reaches high accuracy in seconds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E83838-EB07-4009-861A-F83D3410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Final cluster run results from outputs/metrics.json.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48A324-EF3A-4BB0-8498-ABA9C6C4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7A3BCF-8D4B-42CD-99DB-0F210C79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98.64%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C0E5D-3043-4C15-86B2-94BA3E16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best validation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BB2A5F-E113-4164-A9C7-A0845C4D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98.87%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BF3D4-A45D-4C12-B910-92E375B2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FDA5E2-DF36-4131-A654-055821DB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1.13%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9F277-9CAF-46D7-BD12-1D3CA8DB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error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C93E29-C2DA-4F12-BA73-C4F39B9F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962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810343-FCA0-4542-9EF5-897A9ECA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720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This satisfies the course feasibility constraint comfortably: the full final run trained end-to-end on CPU in 125.94 seconds.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8C2209-CE01-4DA7-B34A-8A73CEBFC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6</a:t>
            </a:r>
          </a:p>
        </p:txBody>
      </p:sp>
    </p:spTree>
    <p:extLst>
      <p:ext uri="{BB962C8B-B14F-4D97-AF65-F5344CB8AC3E}">
        <p14:creationId xmlns:p14="http://schemas.microsoft.com/office/powerpoint/2010/main" val="9734383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66E118-496A-4045-B711-5A5AD452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Training is stable across the 20-epoch historical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691265-004B-49A4-804C-440DEEE1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Loss continues to improve while validation accuracy plateaus near 98.6%.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B06AA2-477A-4CC2-BE4D-3740F820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dc9ed16d174dc2"/>
          <a:stretch xmlns:a="http://schemas.openxmlformats.org/drawingml/2006/main"/>
        </p:blipFill>
        <p:spPr>
          <a:xfrm xmlns:a="http://schemas.openxmlformats.org/drawingml/2006/main">
            <a:off x="1650206" y="2095500"/>
            <a:ext cx="8358188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879DC2-533D-4932-BABF-6176E24E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7</a:t>
            </a:r>
          </a:p>
        </p:txBody>
      </p:sp>
    </p:spTree>
    <p:extLst>
      <p:ext uri="{BB962C8B-B14F-4D97-AF65-F5344CB8AC3E}">
        <p14:creationId xmlns:p14="http://schemas.microsoft.com/office/powerpoint/2010/main" val="18518859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82260A-5D95-40C9-91EA-F82FB0BE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Most errors are rare and concentrated among similar digits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C2C035-D5F1-401A-9744-EF9C794B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confusion matrix shows strong diagonal performance across all ten classes.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3FA927-3FD2-499D-8465-6CEED9D9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91008085dd402d"/>
          <a:stretch xmlns:a="http://schemas.openxmlformats.org/drawingml/2006/main"/>
        </p:blipFill>
        <p:spPr>
          <a:xfrm xmlns:a="http://schemas.openxmlformats.org/drawingml/2006/main">
            <a:off x="1765300" y="2000250"/>
            <a:ext cx="4889500" cy="4191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0E2E1E-E15E-43A9-A8C2-FF6E0252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81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FE9CC6-2A23-47D8-A848-F77AD987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Most predictions lie on the diagonal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13A72A-4F38-44D7-8785-F785DCDD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7EECBC-C69B-46BB-B94F-97857EA4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432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Remaining mistakes are sparse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B3F447-E978-46DE-AA85-86DA35AA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95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80D4E1-AB6A-427B-96A6-352F614C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6004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Errors usually involve similar digit shapes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ED8D17-4FE2-4CE3-BC72-A89D2AC2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DE3A3-D7B5-4749-B12D-FEC424B8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576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Accuracy alone still does not prove robustness on real handwriting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075885-4304-4581-B0F1-48A11310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8</a:t>
            </a:r>
          </a:p>
        </p:txBody>
      </p:sp>
    </p:spTree>
    <p:extLst>
      <p:ext uri="{BB962C8B-B14F-4D97-AF65-F5344CB8AC3E}">
        <p14:creationId xmlns:p14="http://schemas.microsoft.com/office/powerpoint/2010/main" val="19693996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3373AD-0629-4F48-8449-35D3A7772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wow demo classifies a digit drawn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1B2469-B9E7-428C-A374-5948C227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browser canvas sends the drawing to the trained PyTorch checkpoint and returns class probabilities.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6ADCDC-8E40-4035-8C0E-C16779D7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1232D-42DC-4468-ACC8-78D2D0EC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37338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3DA1A-2C12-4DA9-B673-624606CE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57450"/>
            <a:ext cx="22098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350" b="1">
                <a:solidFill>
                  <a:srgbClr val="FFFFFF"/>
                </a:solidFill>
              </a:defRPr>
            </a:pPr>
            <a:r>
              <a:rPr sz="1335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5C0850-2B98-4915-8348-27232C1D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41935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0A0A"/>
                </a:solidFill>
              </a:defRPr>
            </a:pPr>
            <a:r>
              <a:rPr sz="2550" b="1">
                <a:solidFill>
                  <a:srgbClr val="0A0A0A"/>
                </a:solidFill>
              </a:rPr>
              <a:t>python app.py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2BB5D2-8836-4DD2-A06D-7DCFA4B0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289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A0A0A"/>
                </a:solidFill>
              </a:defRPr>
            </a:pPr>
            <a:r>
              <a:rPr sz="2100" b="0">
                <a:solidFill>
                  <a:srgbClr val="0A0A0A"/>
                </a:solidFill>
              </a:rPr>
              <a:t>Open http://127.0.0.1:5000, draw a digit, and click Classify.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A3B8BD-04F8-4B21-80C1-A61C81BEF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96DAF6-6395-4C07-987C-16CC5DCD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386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Uses the committed checkpoint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49B61C-3B1F-43E7-897D-9F4198E1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52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630391-C40F-4335-9C89-F6A14A84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4577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Crops and rescales the browser drawing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CA6D06-9D67-4CD4-AA4B-78A28141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72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44062C-CB6C-4711-B4D6-FCAAA3F8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768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Shows prediction plus probability bars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A00035-8D6C-4165-9967-9D18DE84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391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78701E-B091-45AB-8779-BBEA9BD8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959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Backup: python demo.py --sample-index 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7A615C-5E72-439A-B046-8E49B9045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9</a:t>
            </a:r>
          </a:p>
        </p:txBody>
      </p:sp>
    </p:spTree>
    <p:extLst>
      <p:ext uri="{BB962C8B-B14F-4D97-AF65-F5344CB8AC3E}">
        <p14:creationId xmlns:p14="http://schemas.microsoft.com/office/powerpoint/2010/main" val="8176843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5C7C6F-8DDD-44DF-8D00-C1162260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We matched the historical range, but not the best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8EFEA-5FB4-4D1C-96C5-459A39C6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LeCun et al. reported about 0.8-0.95% MNIST test error for LeNet-5.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70DAA3-F426-4744-9ADF-566CA71B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6B8BC6-AF97-4698-AC65-9B1831A2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F39683-8AC3-43AC-A950-0EFBAC1B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0.8-0.95%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E7323D-F5B9-48ED-932C-713FE486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LeNet-5 reported by LeCun et 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C6A461-1B58-4114-8178-2C1A2ECE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A2BFC3-61F1-4A34-A611-67C8F1B8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1.13%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F79315-233C-4198-9E5B-4EEB2617A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our reproduction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EF3891-5E2E-4408-9955-32A5E14D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482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Gap: 0.18 points vs. the 0.95% run; 0.33 points vs. the best 0.8% figure.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59F5CE-BAD1-475D-BA5D-CE65210B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10</a:t>
            </a:r>
          </a:p>
        </p:txBody>
      </p:sp>
    </p:spTree>
    <p:extLst>
      <p:ext uri="{BB962C8B-B14F-4D97-AF65-F5344CB8AC3E}">
        <p14:creationId xmlns:p14="http://schemas.microsoft.com/office/powerpoint/2010/main" val="8605926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8244A6-A04A-42BF-96A1-6C85B4AC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gap is explainable from engineering choices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FAF71-347D-4CC3-AC60-A35C8B870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reproduction favors clarity and reproducibility over historical exactness.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67F073-83E0-42D9-8BF3-8E1FFF2B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C92B6C-DC3C-4480-B0DE-952A7546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0E067-E262-47D2-A784-6A6A163F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Original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1CDD3-C6EB-4176-BAD0-12605E0D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32x32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Partial feature connectivity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RBF-style output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Older optimizer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Possible distortions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7A00FF-F0C3-47E5-96F3-8E7F2F17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4BFA6-9CD7-48F8-BBCC-70DA86A3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This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856264-2A83-4F42-9170-B017DED8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32x32 padded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Partial C3 connectivity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Fixed RBF output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MAP-style loss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Adam result; SGD supported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A47521-12A5-409E-977D-ECD9833D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7FFA07-F97C-4E57-8F2D-471B9A6C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Effect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2F4CE-BDF2-4B0B-9A66-1ED7CDEF2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Historical architecture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60,000 parameters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Clear comparison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Still easy to run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Honest limitations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7D9DD4-F826-4993-81EE-E3B47A05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11</a:t>
            </a:r>
          </a:p>
        </p:txBody>
      </p:sp>
    </p:spTree>
    <p:extLst>
      <p:ext uri="{BB962C8B-B14F-4D97-AF65-F5344CB8AC3E}">
        <p14:creationId xmlns:p14="http://schemas.microsoft.com/office/powerpoint/2010/main" val="2420961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275A6F-5CC1-4A1B-8413-C3051E10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ResNet-18 is more accurate but far less efficient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C1198-1A93-4BF3-9D68-F3C22B71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modern baseline improves accuracy by 0.31 percentage points, but with a much larger model.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57888C-FDA6-4236-9EDB-75A671B3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C75CB-E362-4EE5-A9C9-FF5910B9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D78826-C2A1-4FCC-BF50-540EA9EE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LeNet-5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4030BC-7220-451C-9B4C-EB46CA12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E07D7C-5D36-42AA-8A66-F5BBFB73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337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98.87% test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DD274-8E79-459C-A535-FCBE4888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A2BEB2-BD49-43EF-A221-C18C7CC5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957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60,000 parameters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B77F78-5AD2-451B-99B3-0B1C1850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4F52C6-0606-4C47-A61F-2A4A5961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125.94 s CPU 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B40ED0-1C1D-4977-8345-857FE5103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14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72134D-E36A-4864-943F-6FD87414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196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0.26 MB checkpoint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410F56-DAFC-4CA1-A2CB-538C82DF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8CD30A-DBD5-4651-8159-32D7BAE6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ResNet-18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207ECB-CE81-43B7-9D1A-0305C4E8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AD8549-08A3-48AA-8059-9E45EB7C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337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99.18% test accuracy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FBB6D0-A7BF-4B03-B0F8-FF7009AF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F10026-699F-4A0F-BF64-0C64BA61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957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11,172,810 parameters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50CC75-4676-4817-AB79-A0D7AB91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9FF7F1-7DF9-4FCC-B1B6-4009D37B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576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726.28 s CPU training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E743D3-3C2E-464C-82B3-1C95B941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14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DDCE8F-0016-47CB-BFB0-F7B6D5D2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196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44.77 MB checkpoint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A5F77F-FFDD-4B8A-AE98-66942F19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007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For MNIST, ResNet wins on accuracy; LeNet wins on simplicity, speed, and explainability.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3F4412-B56D-490A-8F9B-A02701E7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12</a:t>
            </a:r>
          </a:p>
        </p:txBody>
      </p:sp>
    </p:spTree>
    <p:extLst>
      <p:ext uri="{BB962C8B-B14F-4D97-AF65-F5344CB8AC3E}">
        <p14:creationId xmlns:p14="http://schemas.microsoft.com/office/powerpoint/2010/main" val="107736114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1135CB-5634-4119-8A18-CE8DCDC4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project succeeds as a clean, honest reproduction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CEE908-091A-4600-BF31-80025741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small CNN, trained end-to-end, gives high accuracy and a clear explanation of what changed from 1998.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6B1ED5-C2D7-4D89-97AC-01C4DBDCC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F8A811-C84F-4DEB-A1AD-E53874BC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F042C6-C81B-43C5-B1FC-AFC8E5E4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955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Working training, evaluation, figure, and demo scripts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D453D5-6226-47B6-81F1-E62F6C1F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A61A75-6941-4CB2-A2DE-992AAEB9F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99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Final checkpoint and results committed to GitHub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F2C538-F11E-4541-807A-5CA3DC55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3ECAE7-AEA8-482A-AC73-F791F6A0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242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98.87% test accuracy with a 60,000-parameter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CFF0EB-B04D-4DA7-8772-93476A7A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41159-56AC-4AE1-88DA-A72C3E31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386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Limitations are explicit instead of hidden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9025FF-455B-4949-9C48-7E176457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71750"/>
            <a:ext cx="2000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0F03F6-017D-4423-A43B-7A164662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956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Takeaway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1242DE-5059-429F-A364-EA6A712B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1333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LeNet still teaches the core CNN idea clearly.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C51542-4532-42D2-B695-CBC528A6D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13</a:t>
            </a:r>
          </a:p>
        </p:txBody>
      </p:sp>
    </p:spTree>
    <p:extLst>
      <p:ext uri="{BB962C8B-B14F-4D97-AF65-F5344CB8AC3E}">
        <p14:creationId xmlns:p14="http://schemas.microsoft.com/office/powerpoint/2010/main" val="17722530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2026-07-02T05:06:04.5300000Z</dcterms:created>
  <dcterms:modified xsi:type="dcterms:W3CDTF">2026-07-02T05:06:04.5300000Z</dcterms:modified>
</coreProperties>
</file>