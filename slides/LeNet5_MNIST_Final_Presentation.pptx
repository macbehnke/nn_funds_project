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0e0ccc2ef864a79" /><Relationship Type="http://schemas.openxmlformats.org/officeDocument/2006/relationships/extended-properties" Target="/docProps/app.xml" Id="Rdeaa81a9aa974f16" /><Relationship Type="http://schemas.openxmlformats.org/officeDocument/2006/relationships/officeDocument" Target="/ppt/presentation.xml" Id="R995208aad14d4d5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da07523e85c457e"/>
  </p:sldMasterIdLst>
  <p:notesMasterIdLst>
    <p:notesMasterId xmlns:r="http://schemas.openxmlformats.org/officeDocument/2006/relationships" r:id="R9550e05fa7b64054"/>
  </p:notesMasterIdLst>
  <p:sldIdLst>
    <p:sldId xmlns:r="http://schemas.openxmlformats.org/officeDocument/2006/relationships" id="256" r:id="R246ce7b8331a4d55"/>
    <p:sldId xmlns:r="http://schemas.openxmlformats.org/officeDocument/2006/relationships" id="257" r:id="R71c82db463d74fcb"/>
    <p:sldId xmlns:r="http://schemas.openxmlformats.org/officeDocument/2006/relationships" id="258" r:id="R76a26f3823fe4a54"/>
    <p:sldId xmlns:r="http://schemas.openxmlformats.org/officeDocument/2006/relationships" id="259" r:id="R7fe94bd2aa0449a0"/>
    <p:sldId xmlns:r="http://schemas.openxmlformats.org/officeDocument/2006/relationships" id="260" r:id="Rd8ea24512a694285"/>
    <p:sldId xmlns:r="http://schemas.openxmlformats.org/officeDocument/2006/relationships" id="261" r:id="Rde0bcd43d6a1446a"/>
    <p:sldId xmlns:r="http://schemas.openxmlformats.org/officeDocument/2006/relationships" id="262" r:id="Rb1b36087e6104589"/>
    <p:sldId xmlns:r="http://schemas.openxmlformats.org/officeDocument/2006/relationships" id="263" r:id="R4ac8299bb3af4579"/>
    <p:sldId xmlns:r="http://schemas.openxmlformats.org/officeDocument/2006/relationships" id="264" r:id="R5cf8043fd6c34d19"/>
    <p:sldId xmlns:r="http://schemas.openxmlformats.org/officeDocument/2006/relationships" id="265" r:id="R13cf87e8607d4b08"/>
    <p:sldId xmlns:r="http://schemas.openxmlformats.org/officeDocument/2006/relationships" id="266" r:id="R8f61fdeade7a4d16"/>
    <p:sldId xmlns:r="http://schemas.openxmlformats.org/officeDocument/2006/relationships" id="267" r:id="R68f5fe851a2f4d3e"/>
    <p:sldId xmlns:r="http://schemas.openxmlformats.org/officeDocument/2006/relationships" id="268" r:id="R18d46bd81bad463c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a6e213d266480f" /><Relationship Type="http://schemas.openxmlformats.org/officeDocument/2006/relationships/slideMaster" Target="/ppt/slideMasters/slideMaster1.xml" Id="Rada07523e85c457e" /><Relationship Type="http://schemas.openxmlformats.org/officeDocument/2006/relationships/notesMaster" Target="/ppt/notesMasters/notesMaster1.xml" Id="R9550e05fa7b64054" /><Relationship Type="http://schemas.openxmlformats.org/officeDocument/2006/relationships/presProps" Target="/ppt/presProps.xml" Id="R9014928c6f3842cc" /><Relationship Type="http://schemas.openxmlformats.org/officeDocument/2006/relationships/tableStyles" Target="/ppt/tableStyles.xml" Id="Rc6005395504841e6" /><Relationship Type="http://schemas.openxmlformats.org/officeDocument/2006/relationships/slide" Target="/ppt/slides/slide1.xml" Id="R246ce7b8331a4d55" /><Relationship Type="http://schemas.openxmlformats.org/officeDocument/2006/relationships/slide" Target="/ppt/slides/slide2.xml" Id="R71c82db463d74fcb" /><Relationship Type="http://schemas.openxmlformats.org/officeDocument/2006/relationships/slide" Target="/ppt/slides/slide3.xml" Id="R76a26f3823fe4a54" /><Relationship Type="http://schemas.openxmlformats.org/officeDocument/2006/relationships/slide" Target="/ppt/slides/slide4.xml" Id="R7fe94bd2aa0449a0" /><Relationship Type="http://schemas.openxmlformats.org/officeDocument/2006/relationships/slide" Target="/ppt/slides/slide5.xml" Id="Rd8ea24512a694285" /><Relationship Type="http://schemas.openxmlformats.org/officeDocument/2006/relationships/slide" Target="/ppt/slides/slide6.xml" Id="Rde0bcd43d6a1446a" /><Relationship Type="http://schemas.openxmlformats.org/officeDocument/2006/relationships/slide" Target="/ppt/slides/slide7.xml" Id="Rb1b36087e6104589" /><Relationship Type="http://schemas.openxmlformats.org/officeDocument/2006/relationships/slide" Target="/ppt/slides/slide8.xml" Id="R4ac8299bb3af4579" /><Relationship Type="http://schemas.openxmlformats.org/officeDocument/2006/relationships/slide" Target="/ppt/slides/slide9.xml" Id="R5cf8043fd6c34d19" /><Relationship Type="http://schemas.openxmlformats.org/officeDocument/2006/relationships/slide" Target="/ppt/slides/slide10.xml" Id="R13cf87e8607d4b08" /><Relationship Type="http://schemas.openxmlformats.org/officeDocument/2006/relationships/slide" Target="/ppt/slides/slide11.xml" Id="R8f61fdeade7a4d16" /><Relationship Type="http://schemas.openxmlformats.org/officeDocument/2006/relationships/slide" Target="/ppt/slides/slide12.xml" Id="R68f5fe851a2f4d3e" /><Relationship Type="http://schemas.openxmlformats.org/officeDocument/2006/relationships/slide" Target="/ppt/slides/slide13.xml" Id="R18d46bd81bad463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90c4122c293424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a539c330b74190" /><Relationship Type="http://schemas.openxmlformats.org/officeDocument/2006/relationships/notesMaster" Target="/ppt/notesMasters/notesMaster1.xml" Id="R37bccffcb6ce48f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aa71d90c35e4b5d" /><Relationship Type="http://schemas.openxmlformats.org/officeDocument/2006/relationships/notesMaster" Target="/ppt/notesMasters/notesMaster1.xml" Id="Rfe87a03972a64b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6447e68eacc4ed8" /><Relationship Type="http://schemas.openxmlformats.org/officeDocument/2006/relationships/notesMaster" Target="/ppt/notesMasters/notesMaster1.xml" Id="R211abbd74ee74b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c6611de43d4465" /><Relationship Type="http://schemas.openxmlformats.org/officeDocument/2006/relationships/notesMaster" Target="/ppt/notesMasters/notesMaster1.xml" Id="Rf11ceb54a14c44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1889420d141410d" /><Relationship Type="http://schemas.openxmlformats.org/officeDocument/2006/relationships/notesMaster" Target="/ppt/notesMasters/notesMaster1.xml" Id="R436a64e60b344f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d7a31230884d54" /><Relationship Type="http://schemas.openxmlformats.org/officeDocument/2006/relationships/notesMaster" Target="/ppt/notesMasters/notesMaster1.xml" Id="Ra61444026aa6467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d6b0d27761a4451" /><Relationship Type="http://schemas.openxmlformats.org/officeDocument/2006/relationships/notesMaster" Target="/ppt/notesMasters/notesMaster1.xml" Id="R668b6c0df3654ce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8358a9d32684515" /><Relationship Type="http://schemas.openxmlformats.org/officeDocument/2006/relationships/notesMaster" Target="/ppt/notesMasters/notesMaster1.xml" Id="R87148efa5e6f42c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9cd14b15b334e4a" /><Relationship Type="http://schemas.openxmlformats.org/officeDocument/2006/relationships/notesMaster" Target="/ppt/notesMasters/notesMaster1.xml" Id="Ra569698b208f4af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2b17e7a92914752" /><Relationship Type="http://schemas.openxmlformats.org/officeDocument/2006/relationships/notesMaster" Target="/ppt/notesMasters/notesMaster1.xml" Id="Rceb7316bd8094b3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9a705e14c134863" /><Relationship Type="http://schemas.openxmlformats.org/officeDocument/2006/relationships/notesMaster" Target="/ppt/notesMasters/notesMaster1.xml" Id="Rc9f4ddf17e224c9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e90cb29bf814839" /><Relationship Type="http://schemas.openxmlformats.org/officeDocument/2006/relationships/notesMaster" Target="/ppt/notesMasters/notesMaster1.xml" Id="R981d946476444ee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1f5a6169eae4de0" /><Relationship Type="http://schemas.openxmlformats.org/officeDocument/2006/relationships/notesMaster" Target="/ppt/notesMasters/notesMaster1.xml" Id="R8aa5157e299f47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cb57dba47d4f0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f454577194248d8" /><Relationship Type="http://schemas.openxmlformats.org/officeDocument/2006/relationships/slideLayout" Target="/ppt/slideLayouts/slideLayout1.xml" Id="R6c4d625774c1495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c4d625774c1495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2c0484113b4a6c" /><Relationship Type="http://schemas.openxmlformats.org/officeDocument/2006/relationships/notesSlide" Target="/ppt/notesSlides/notesSlide1.xml" Id="R7686e6903afc44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2a686791d4da5" /><Relationship Type="http://schemas.openxmlformats.org/officeDocument/2006/relationships/image" Target="/ppt/media/image.png" Id="R9238b60243cf4b09" /><Relationship Type="http://schemas.openxmlformats.org/officeDocument/2006/relationships/notesSlide" Target="/ppt/notesSlides/notesSlide2.xml" Id="R30de8f3c14da481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2418a8a0734434" /><Relationship Type="http://schemas.openxmlformats.org/officeDocument/2006/relationships/notesSlide" Target="/ppt/notesSlides/notesSlide3.xml" Id="R851e439163cd485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50d88b9c874ac6" /><Relationship Type="http://schemas.openxmlformats.org/officeDocument/2006/relationships/notesSlide" Target="/ppt/notesSlides/notesSlide4.xml" Id="Rc7d9f80e78a141e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ae8c8cff9a4bdf" /><Relationship Type="http://schemas.openxmlformats.org/officeDocument/2006/relationships/notesSlide" Target="/ppt/notesSlides/notesSlide5.xml" Id="Rce8ee489ff1c485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127776f1324423" /><Relationship Type="http://schemas.openxmlformats.org/officeDocument/2006/relationships/notesSlide" Target="/ppt/notesSlides/notesSlide6.xml" Id="R54c8e33ccccf43e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1f8ccb38e842f0" /><Relationship Type="http://schemas.openxmlformats.org/officeDocument/2006/relationships/image" Target="/ppt/media/image2.png" Id="Rcb0aa4bbea08452b" /><Relationship Type="http://schemas.openxmlformats.org/officeDocument/2006/relationships/notesSlide" Target="/ppt/notesSlides/notesSlide7.xml" Id="Rebd6f77c8c8a46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05687ed8244af3" /><Relationship Type="http://schemas.openxmlformats.org/officeDocument/2006/relationships/image" Target="/ppt/media/image3.png" Id="Raadc0b3714644202" /><Relationship Type="http://schemas.openxmlformats.org/officeDocument/2006/relationships/notesSlide" Target="/ppt/notesSlides/notesSlide8.xml" Id="R9858d0cecbdb472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af5b82c35345ca" /><Relationship Type="http://schemas.openxmlformats.org/officeDocument/2006/relationships/notesSlide" Target="/ppt/notesSlides/notesSlide9.xml" Id="Re2549755f4ac435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0415c4f7e4035" /><Relationship Type="http://schemas.openxmlformats.org/officeDocument/2006/relationships/notesSlide" Target="/ppt/notesSlides/notesSlide10.xml" Id="R1191a8d842c0407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dbdaa6d97e4b07" /><Relationship Type="http://schemas.openxmlformats.org/officeDocument/2006/relationships/notesSlide" Target="/ppt/notesSlides/notesSlide11.xml" Id="Rac8a4d7ea4ed4eb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3590bbdffc435f" /><Relationship Type="http://schemas.openxmlformats.org/officeDocument/2006/relationships/notesSlide" Target="/ppt/notesSlides/notesSlide12.xml" Id="Rb234ddc0380e4e5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5492d0b9a24a70" /><Relationship Type="http://schemas.openxmlformats.org/officeDocument/2006/relationships/notesSlide" Target="/ppt/notesSlides/notesSlide13.xml" Id="R57d70fd7385e40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A321EB7-462F-4768-9990-A65D8A44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8200"/>
            <a:ext cx="876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A0A0A"/>
                </a:solidFill>
              </a:defRPr>
            </a:pPr>
            <a:r>
              <a:rPr sz="4350" b="1">
                <a:solidFill>
                  <a:srgbClr val="0A0A0A"/>
                </a:solidFill>
              </a:rPr>
              <a:t>LeNet-5 on MNIST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F2243-34CB-4693-A0C6-8BAC557A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723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55555"/>
                </a:solidFill>
              </a:defRPr>
            </a:pPr>
            <a:r>
              <a:rPr sz="1950" b="0">
                <a:solidFill>
                  <a:srgbClr val="555555"/>
                </a:solidFill>
              </a:rPr>
              <a:t>Reproducing a classic CNN baseline and comparing it with modern practice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549F43-AA45-4187-8B98-8B13772DD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D8B44B-7852-4F43-9AAC-2DA24368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98.83%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84E18B-3D87-4462-A543-9CF61B79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C98980-7F45-49E7-95A7-6A1B5ABEA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C5819F-30D2-4C46-9267-CFAA56ABF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61,706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734BCA-AE56-47B9-8AAF-6EF722360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trainable parameters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E24105-876B-41CF-B33A-CFB0BA96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52850"/>
            <a:ext cx="245745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EA7C61-BA57-42E1-9543-815F90C79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24300"/>
            <a:ext cx="200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E6F9E"/>
                </a:solidFill>
              </a:defRPr>
            </a:pPr>
            <a:r>
              <a:rPr sz="3750" b="1">
                <a:solidFill>
                  <a:srgbClr val="2E6F9E"/>
                </a:solidFill>
              </a:rPr>
              <a:t>16.81s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CE18B3-5174-424D-A2C4-DE186D57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101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CPU training time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B8FEDF-F995-4B3C-B70E-51A0B16F6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769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55555"/>
                </a:solidFill>
              </a:defRPr>
            </a:pPr>
            <a:r>
              <a:rPr sz="1275" b="0">
                <a:solidFill>
                  <a:srgbClr val="555555"/>
                </a:solidFill>
              </a:rPr>
              <a:t>Neural Networks Fundamentals | Project 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1D19BF-2B95-4A26-9C57-F37BA022A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</a:t>
            </a:r>
          </a:p>
        </p:txBody>
      </p:sp>
    </p:spTree>
    <p:extLst>
      <p:ext uri="{BB962C8B-B14F-4D97-AF65-F5344CB8AC3E}">
        <p14:creationId xmlns:p14="http://schemas.microsoft.com/office/powerpoint/2010/main" val="15202063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4ED749-CD81-468C-99B1-44DE3D159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task is simple enough to reveal the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87FE8D-50D5-4F3B-AED9-D7657D70E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MNIST removes most data-engineering noise, so the architecture and training choices are easy to inspect.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FDE3C8-A19C-41BE-8C37-A71805AA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FFF92A-E7E1-42B5-B5C8-FCE25A34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52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6F4CC3-C72D-4A33-9D03-CE11EC1C0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Input: centered grayscale handwritten digit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CB3DD6-DC6C-4166-978C-7AA319D9C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2C8B8E-A407-47FF-9DFB-D81C2C07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Output: one of ten classes, 0 through 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8A1A7D-E5D5-4B2B-A664-93288C1C7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59308D-6641-4C6C-9966-A49BB830C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480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Dataset: 60,000 train images and 10,000 test images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454C23-CFCA-477D-9703-DF08F2DE1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D704DA-9CAC-4B1F-BA7B-8E4FCF7F5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24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Project goal: reproduce LeNet-style CNN behavior cleanly and reproducibly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38b60243cf4b09"/>
          <a:stretch xmlns:a="http://schemas.openxmlformats.org/drawingml/2006/main"/>
        </p:blipFill>
        <p:spPr>
          <a:xfrm xmlns:a="http://schemas.openxmlformats.org/drawingml/2006/main">
            <a:off x="6858000" y="2266950"/>
            <a:ext cx="3619500" cy="36195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93D92B-E32F-431E-B4B5-6988A0AC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886450"/>
            <a:ext cx="4381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The final demo loads the checkpoint and predicts a held-out MNIST digit.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D944A6-F384-4A06-9344-754C462E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2</a:t>
            </a:r>
          </a:p>
        </p:txBody>
      </p:sp>
    </p:spTree>
    <p:extLst>
      <p:ext uri="{BB962C8B-B14F-4D97-AF65-F5344CB8AC3E}">
        <p14:creationId xmlns:p14="http://schemas.microsoft.com/office/powerpoint/2010/main" val="8502979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913BB0D-E0ED-4A3C-92FA-DD431778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LeNet-5 is small, structured, and still instructive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0EEEFC-C5F1-49DD-970D-4F95721E4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network uses local filters, pooling, and a compact classifier instead of dense connections over all pixels.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E401B6-76D4-42CB-AC27-4A85E53E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E0A22E-A698-4BA0-8C01-397A693D5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D85031-BC3D-4BB7-9F2C-E2EFC264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30FEC1-A10A-435F-BB2B-ECE12C0B3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1x28x28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1151AA-1CCF-41AB-9612-E24DECCC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136D3C-2958-4CDB-9413-19CF82B5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FC8708-92A6-4A03-83F8-62E12D66F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Conv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5F0403-5EC4-4593-85EB-6579731C5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6 maps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6E4A21-6927-4A3B-9E44-31F9BAC72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3C57B6-ACB5-4A8D-A393-20C893170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9B5927-1293-4036-8F78-AE4ED8AD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Avg pool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A760F0-C5FD-4E7D-97CD-9956672AD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2x2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49FEF7-BF3C-4F3C-ADB0-ECC9C011C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E220B7-E25D-4FC3-89C8-F3AACDDB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0BD141-AFE9-4640-8DBC-F6DD8B27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Conv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000C8F-0E75-41EA-9BE4-087D41C1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16 maps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2E0417-AF36-4A4E-93A3-50D19C4D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04F927-E77B-4235-A25C-E0A66F99D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234BAB3-7FBD-4891-A055-94B59AAA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Avg pool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D80166-3171-4B7C-986B-78409C9DA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2x2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B26E36-B9EA-450F-90B7-93CD5C876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4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1562913-9CC5-4053-85F9-7E703DC5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366621-F01C-426D-AFDE-599367844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Dense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F27C49-CECC-40A6-B644-15B66D4B4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120, 84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914D55-34ED-47FC-A041-24F2FD9D5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8825" y="3190875"/>
            <a:ext cx="3238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E63B8F-EE78-408F-B20B-9C4022E04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00350"/>
            <a:ext cx="1333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CB6BB8-563B-472D-B6AE-05966634A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0990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A0A0A"/>
                </a:solidFill>
              </a:defRPr>
            </a:pPr>
            <a:r>
              <a:rPr sz="1725" b="1">
                <a:solidFill>
                  <a:srgbClr val="0A0A0A"/>
                </a:solidFill>
              </a:rPr>
              <a:t>Output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C9E28AD-ACE8-4788-9DE1-4F75E17C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390900"/>
            <a:ext cx="1066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10 digits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7C85C6F-8B6E-40A9-B9A2-D7F38ECA1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91050"/>
            <a:ext cx="990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Visible layer sizes follow the classic LeNet-5 shape: two convolutional stages, then 120 and 84 hidden units before the 10-way classifier.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1E2CEE-5E58-4070-ABE7-FF098FF0C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3</a:t>
            </a:r>
          </a:p>
        </p:txBody>
      </p:sp>
    </p:spTree>
    <p:extLst>
      <p:ext uri="{BB962C8B-B14F-4D97-AF65-F5344CB8AC3E}">
        <p14:creationId xmlns:p14="http://schemas.microsoft.com/office/powerpoint/2010/main" val="205020137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AE34B7-81CF-48C5-8D77-22ABAF685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We kept the historical shape but used modern training defaults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68115E-710E-4502-8BC8-701FBFD0B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implementation is faithful as a teaching reproduction, not an exact historical reconstruction.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3F13BE-9923-42C6-AE14-1FA440CC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BFA19-E119-477E-9C97-9C2C54D3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241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25862A-5DAD-46E4-A49C-E22819B6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5527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Kept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FC8BE2-9F4E-4118-A68C-0563A5BC0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4574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5x5 convolutions, tanh activations, average pooling, 120 and 84 hidden units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F0D848-D79F-4708-9962-4078F6042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4805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AD732D-A2E4-4FFB-A97A-825C305F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6766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Changed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950BAF-3E6C-4D10-BB5C-90FDDB53A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8140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28x28 inputs, dense second convolution, linear output layer, cross-entropy loss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FBAA94-4E74-47D2-B1ED-C88C1611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2286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1CADC0-362F-4D60-B445-55B68EB8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8006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A0A0A"/>
                </a:solidFill>
              </a:defRPr>
            </a:pPr>
            <a:r>
              <a:rPr sz="2175" b="1">
                <a:solidFill>
                  <a:srgbClr val="0A0A0A"/>
                </a:solidFill>
              </a:rPr>
              <a:t>Reason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4C034E-01AD-41E2-A11C-F3C41B1A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705350"/>
            <a:ext cx="723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A0A0A"/>
                </a:solidFill>
              </a:defRPr>
            </a:pPr>
            <a:r>
              <a:rPr sz="1800" b="0">
                <a:solidFill>
                  <a:srgbClr val="0A0A0A"/>
                </a:solidFill>
              </a:rPr>
              <a:t>Modern PyTorch conventions make the run shorter, clearer, and easier to reproduce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683160-1554-4E74-93EE-5E0F1C395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4</a:t>
            </a:r>
          </a:p>
        </p:txBody>
      </p:sp>
    </p:spTree>
    <p:extLst>
      <p:ext uri="{BB962C8B-B14F-4D97-AF65-F5344CB8AC3E}">
        <p14:creationId xmlns:p14="http://schemas.microsoft.com/office/powerpoint/2010/main" val="61848034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07673F9-B61A-404F-A2BE-AAA82818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training run is deliberately reproducible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E00957-3D0C-468B-8D2E-FEA49D1F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final reported run uses a fixed seed and saves the best validation checkpoint.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C7206B-7E57-4030-B865-D32089C09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C8F5C2-1B70-49FC-8F4E-19A47715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038225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3F07A-08DE-4158-B7A9-6220CDB0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62250"/>
            <a:ext cx="161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5DB496-C98D-4C33-AF4C-341DD66C3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480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epochs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ED350B-B0D9-45A2-B9B0-F7271D14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62250"/>
            <a:ext cx="1809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128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E180DF-207E-4874-B8A3-AC0CE0BB0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48050"/>
            <a:ext cx="1809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batch size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F1D54B-10D2-479F-8391-185048388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762250"/>
            <a:ext cx="209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0.001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592EB8-3347-4DE8-9498-1CF8A706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4805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learning 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8ECC49-84E7-42E3-AE48-863A5D9B4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762250"/>
            <a:ext cx="2190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0A0A0A"/>
                </a:solidFill>
              </a:defRPr>
            </a:pPr>
            <a:r>
              <a:rPr sz="3750" b="1">
                <a:solidFill>
                  <a:srgbClr val="0A0A0A"/>
                </a:solidFill>
              </a:rPr>
              <a:t>5,000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131826-CC7E-4059-99AD-53D94AED7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48050"/>
            <a:ext cx="2190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validation split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2FC44E-2A97-4A51-B429-4BB7060AE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17195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0">
                <a:solidFill>
                  <a:srgbClr val="0A0A0A"/>
                </a:solidFill>
              </a:defRPr>
            </a:pPr>
            <a:r>
              <a:rPr sz="1950" b="0">
                <a:solidFill>
                  <a:srgbClr val="0A0A0A"/>
                </a:solidFill>
              </a:rPr>
              <a:t>Optimizer: Adam | Loss: cross-entropy | Seed: 42 | Device used in final run: CPU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54837C-56DE-485C-B515-D6604B4E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5</a:t>
            </a:r>
          </a:p>
        </p:txBody>
      </p:sp>
    </p:spTree>
    <p:extLst>
      <p:ext uri="{BB962C8B-B14F-4D97-AF65-F5344CB8AC3E}">
        <p14:creationId xmlns:p14="http://schemas.microsoft.com/office/powerpoint/2010/main" val="10566048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A79D2E9-9D4A-43A7-B377-1632D599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small CNN reaches high accuracy in seconds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8100F3-3031-4A15-AE53-E5B57619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Final cluster run results from outputs/metrics.json.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C72EA7-CD1B-45B6-BD64-B206D1970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EE5462-F50B-4C00-8CAB-8CD44CCC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98.68%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94D36E-0C22-4E99-9CDE-93D53DB5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best validation accuracy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36CBBE-4D17-4CE7-A846-BD25966F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98.83%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A68E51-2C05-42ED-8697-111D1679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accuracy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954B70-C95B-45A6-B007-C2F36305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38400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1.17%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C620A0-CE54-4084-B6B2-51DA7E98E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24200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test error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7A2837-D3D9-4169-A85F-92E0B1E6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62450"/>
            <a:ext cx="962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55D1DE-40CD-449F-A749-AE70BBB78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720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This satisfies the course feasibility constraint comfortably: the full final run trained end-to-end on CPU in 16.81 seconds.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488D620-5CF9-427F-8541-3C9D9D246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6</a:t>
            </a:r>
          </a:p>
        </p:txBody>
      </p:sp>
    </p:spTree>
    <p:extLst>
      <p:ext uri="{BB962C8B-B14F-4D97-AF65-F5344CB8AC3E}">
        <p14:creationId xmlns:p14="http://schemas.microsoft.com/office/powerpoint/2010/main" val="20245017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70D647-1CFD-4044-B54B-25E134FF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Training is stable and mostly converged after eight epochs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FBB758-FD4D-4DB1-BE91-B388153D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Loss continues to improve while validation accuracy plateaus near 98.7%.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05CFA3-BC03-46D1-9C9C-69CE6E869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0aa4bbea08452b"/>
          <a:stretch xmlns:a="http://schemas.openxmlformats.org/drawingml/2006/main"/>
        </p:blipFill>
        <p:spPr>
          <a:xfrm xmlns:a="http://schemas.openxmlformats.org/drawingml/2006/main">
            <a:off x="1650206" y="2095500"/>
            <a:ext cx="8358188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36B87B-BC10-45DB-993B-D1E98D518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7</a:t>
            </a:r>
          </a:p>
        </p:txBody>
      </p:sp>
    </p:spTree>
    <p:extLst>
      <p:ext uri="{BB962C8B-B14F-4D97-AF65-F5344CB8AC3E}">
        <p14:creationId xmlns:p14="http://schemas.microsoft.com/office/powerpoint/2010/main" val="20817158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6252752-9CAD-4D6A-B80B-90604823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Most errors are rare and concentrated among similar digits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2C3908-E1E5-438A-9B8C-96214312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confusion matrix shows strong diagonal performance across all ten classes.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F370FE-C1DE-4ABE-9B88-F6B022B6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c0b3714644202"/>
          <a:stretch xmlns:a="http://schemas.openxmlformats.org/drawingml/2006/main"/>
        </p:blipFill>
        <p:spPr>
          <a:xfrm xmlns:a="http://schemas.openxmlformats.org/drawingml/2006/main">
            <a:off x="1765300" y="2000250"/>
            <a:ext cx="4889500" cy="4191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33E4A1-F095-48B4-BF95-01873EAE3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781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722793-4501-4E2B-AC49-9325CAFF6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6860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Most predictions lie on the diagonal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663217-C362-4825-B6E6-22126DC64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238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3B2FD5-B6A3-498C-89FD-E0CCD4076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1432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Remaining mistakes are sparse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37CDB5-1162-42F8-9873-73B45DE3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957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89DEB2-E85C-49D5-AEEF-903608F5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6004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Errors usually involve similar digit shapes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FB85D9-3ED7-4634-9B04-78288917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1529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5E2E42-7D78-4B0A-BC73-20621924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057650"/>
            <a:ext cx="329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Accuracy alone still does not prove robustness on real handwriting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222D68-8A0D-488A-812E-17E80E2F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8</a:t>
            </a:r>
          </a:p>
        </p:txBody>
      </p:sp>
    </p:spTree>
    <p:extLst>
      <p:ext uri="{BB962C8B-B14F-4D97-AF65-F5344CB8AC3E}">
        <p14:creationId xmlns:p14="http://schemas.microsoft.com/office/powerpoint/2010/main" val="20562529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4B97CFC-3A3E-4BC9-B296-EADD206CC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wow demo classifies a digit drawn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A0409F-EEEA-44F2-A714-C15ED291F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browser canvas sends the drawing to the trained PyTorch checkpoint and returns class probabilities.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2E8850-7DB8-46E6-ADC5-F4E3CDDAC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7CBC2C-B33A-45BC-973A-108A16D1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37338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DAD095-4DAC-48AC-A5D0-C7A97B4E1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457450"/>
            <a:ext cx="22098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350" b="1">
                <a:solidFill>
                  <a:srgbClr val="FFFFFF"/>
                </a:solidFill>
              </a:defRPr>
            </a:pPr>
            <a:r>
              <a:rPr sz="1335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B1AE5C-4FDA-4F0F-8FD2-611BFEA74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419350"/>
            <a:ext cx="5334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A0A0A"/>
                </a:solidFill>
              </a:defRPr>
            </a:pPr>
            <a:r>
              <a:rPr sz="2550" b="1">
                <a:solidFill>
                  <a:srgbClr val="0A0A0A"/>
                </a:solidFill>
              </a:rPr>
              <a:t>python app.py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1F701F-DA21-404F-ACCC-7EE3D7C16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0289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0A0A0A"/>
                </a:solidFill>
              </a:defRPr>
            </a:pPr>
            <a:r>
              <a:rPr sz="2100" b="0">
                <a:solidFill>
                  <a:srgbClr val="0A0A0A"/>
                </a:solidFill>
              </a:rPr>
              <a:t>Open http://127.0.0.1:5000, draw a digit, and click Classify.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B24579-243F-4D8D-AC95-031D378A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EEF438-ADA5-4E6F-BA48-E45EA26E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0386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Uses the committed checkpoint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6135FD-2CFC-443E-B222-F5458ABB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529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ABD169-7BF0-403D-A883-04616C401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4577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Crops and rescales the browser drawing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B8F65D-ACFF-4690-96F8-CC9C6079D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720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EBDE11-23B3-46D8-A3FC-97493CE5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768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Shows prediction plus probability bars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33AF7B-7F6B-4619-853E-E2BB42066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391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8559E8-2625-468A-BD28-D293178E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95900"/>
            <a:ext cx="5105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Backup: python demo.py --sample-index 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C2DC48F-A318-4098-A405-5FE2536A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9</a:t>
            </a:r>
          </a:p>
        </p:txBody>
      </p:sp>
    </p:spTree>
    <p:extLst>
      <p:ext uri="{BB962C8B-B14F-4D97-AF65-F5344CB8AC3E}">
        <p14:creationId xmlns:p14="http://schemas.microsoft.com/office/powerpoint/2010/main" val="16310839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F974068-6E18-42F1-96EB-16DDFF53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We came close to the paper, but did not overclaim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D73B57-D949-48A4-B8BD-B92E7D35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LeCun et al. reported about 0.8% MNIST test error for LeNet-5.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4F0850-5F44-4A49-938F-F971F864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602F05-0786-4F40-A3A6-7489A967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474942-66D0-41AA-ADF1-7602A41B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2F7D55"/>
                </a:solidFill>
              </a:defRPr>
            </a:pPr>
            <a:r>
              <a:rPr sz="3750" b="1">
                <a:solidFill>
                  <a:srgbClr val="2F7D55"/>
                </a:solidFill>
              </a:rPr>
              <a:t>0.8%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D75A44-6620-4CCC-9239-6097664C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LeNet-5 reported by LeCun et 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A16E75-C39F-4844-B45B-A18E31B9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76500"/>
            <a:ext cx="41910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4D8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63044A-EC9E-4821-909A-046EB5CA5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194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F6B35"/>
                </a:solidFill>
              </a:defRPr>
            </a:pPr>
            <a:r>
              <a:rPr sz="3750" b="1">
                <a:solidFill>
                  <a:srgbClr val="FF6B35"/>
                </a:solidFill>
              </a:rPr>
              <a:t>1.17%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D3D12-FC48-4505-992F-93DEFAE6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505200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our reproduction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CC5B4C-85B1-475B-825A-D21544875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48250"/>
            <a:ext cx="933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Gap: 0.37 percentage points. The result is close, but not within the 0.2 percentage-point wow target.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1B3767-2091-45BD-9844-41519055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10</a:t>
            </a:r>
          </a:p>
        </p:txBody>
      </p:sp>
    </p:spTree>
    <p:extLst>
      <p:ext uri="{BB962C8B-B14F-4D97-AF65-F5344CB8AC3E}">
        <p14:creationId xmlns:p14="http://schemas.microsoft.com/office/powerpoint/2010/main" val="6221597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0B9A5F5-CD8F-4247-B34B-23EB393F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gap is explainable from engineering choices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06590F-7474-4A2A-B727-63BE69669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The reproduction favors clarity and reproducibility over historical exactness.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A71BCA-409A-4587-8CDA-4A828FBC4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5415E8-4817-47B8-8180-6ECAE7A0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7E14B8-3C6A-4453-B9F3-8DDF66BF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Original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A80107-CBB4-4423-AA67-5036FD6E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32x32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Partial feature connectivity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RBF-style output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Older optimizer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Possible distortions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6F457D-C87F-45F4-8151-FE0BA5A3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412DD7-6FA3-43A3-B5CA-9AF1ABBD5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This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2A897D-E7AE-41A5-9408-32F3D00DE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28x28 inputs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Dense convolution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Linear logits + cross-entropy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Adam optimizer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No augmentation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2DA818-9538-4453-8470-A954D3A9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47900"/>
            <a:ext cx="3181350" cy="3162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1CC17A-204A-4F54-BC35-B7A4967B0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514600"/>
            <a:ext cx="2647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A0A0A"/>
                </a:solidFill>
              </a:defRPr>
            </a:pPr>
            <a:r>
              <a:rPr sz="2325" b="1">
                <a:solidFill>
                  <a:srgbClr val="0A0A0A"/>
                </a:solidFill>
              </a:rPr>
              <a:t>Effect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7F8E9B-02E7-41B3-BDFC-F212815C9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124200"/>
            <a:ext cx="26479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Simpler code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Fast final run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Easy PyTorch demo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Slightly higher error</a:t>
            </a:r>
          </a:p>
          <a:p xmlns:a="http://schemas.openxmlformats.org/drawingml/2006/main">
            <a:pPr algn="l">
              <a:defRPr sz="1725" b="0">
                <a:solidFill>
                  <a:srgbClr val="0A0A0A"/>
                </a:solidFill>
              </a:defRPr>
            </a:pPr>
            <a:r>
              <a:rPr sz="1725" b="0">
                <a:solidFill>
                  <a:srgbClr val="0A0A0A"/>
                </a:solidFill>
              </a:rPr>
              <a:t>Clear limitations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E756B2-2F4F-45AF-B55B-7367B2D8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11</a:t>
            </a:r>
          </a:p>
        </p:txBody>
      </p:sp>
    </p:spTree>
    <p:extLst>
      <p:ext uri="{BB962C8B-B14F-4D97-AF65-F5344CB8AC3E}">
        <p14:creationId xmlns:p14="http://schemas.microsoft.com/office/powerpoint/2010/main" val="28324676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2E138F-D710-4C90-9BD0-D1AC031AF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A ResNet-18 baseline is included as the modern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9B7634-0B0E-4F5A-99A8-B0ADDD6CE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For today's toolkit, residual blocks and batch normalization are the natural contrast to LeNet.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E528A2-A933-45BB-8722-B5E705B7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49C6DA-6508-4DB9-95FD-2C8469AFA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5AE81-1975-478D-865F-548BC078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LeNet-5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5555DB-8823-47FD-A96B-00FE14BE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05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6E9A61-D018-400D-A587-3EF201F01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09950"/>
            <a:ext cx="3486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61k parameters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3F4F27-4539-43F5-BE97-8C485D31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05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9EBE74-8BC7-443E-8D57-957E69FF9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10000"/>
            <a:ext cx="3486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Tanh + average pooling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F84E13-A817-4E35-BC09-BD986686D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05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5455E4-39BE-4B69-9F48-B56FD87DB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210050"/>
            <a:ext cx="3486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Designed for small digit images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C9B4DA-9331-4004-BF32-A5CFC614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38400"/>
            <a:ext cx="45720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3C2172-3952-46DE-8E1D-F2D68213D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24150"/>
            <a:ext cx="3905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0A0A0A"/>
                </a:solidFill>
              </a:defRPr>
            </a:pPr>
            <a:r>
              <a:rPr sz="2700" b="1">
                <a:solidFill>
                  <a:srgbClr val="0A0A0A"/>
                </a:solidFill>
              </a:rPr>
              <a:t>ResNet-18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72EB7C-CF2D-4C34-9937-E866AE1D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5052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ED3887-FC93-4D5B-9222-DE4DCD811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09950"/>
            <a:ext cx="3486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Residual blocks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6FEAE9-2490-4ED3-A852-60972F4FE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9052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D6AD4-65C7-4297-BEE3-EAADBB7B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810000"/>
            <a:ext cx="3486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Batch normalization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CC6CB7-7316-4D6F-B935-DA7926BF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053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069FA2-1C54-46C1-AB4D-DEF100C8A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10050"/>
            <a:ext cx="3486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Adapted 1-channel MNIST stem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42D6EC-5AAF-4506-B82B-A34259CE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6769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0">
                <a:solidFill>
                  <a:srgbClr val="555555"/>
                </a:solidFill>
              </a:defRPr>
            </a:pPr>
            <a:r>
              <a:rPr sz="1800" b="0">
                <a:solidFill>
                  <a:srgbClr val="555555"/>
                </a:solidFill>
              </a:rPr>
              <a:t>Run with: python train.py --model resnet18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D6ACE6-4793-4014-8015-6758B8CCC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12</a:t>
            </a:r>
          </a:p>
        </p:txBody>
      </p:sp>
    </p:spTree>
    <p:extLst>
      <p:ext uri="{BB962C8B-B14F-4D97-AF65-F5344CB8AC3E}">
        <p14:creationId xmlns:p14="http://schemas.microsoft.com/office/powerpoint/2010/main" val="9445923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73A58B-2D86-4051-ADFB-505ADF1A2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8382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A0A0A"/>
                </a:solidFill>
              </a:defRPr>
            </a:pPr>
            <a:r>
              <a:rPr sz="3150" b="1">
                <a:solidFill>
                  <a:srgbClr val="0A0A0A"/>
                </a:solidFill>
              </a:rPr>
              <a:t>The project succeeds as a clean, honest reproduction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5F664-B14F-4361-A927-76A77FAE4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9525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A small CNN, trained end-to-end, gives high accuracy and a clear explanation of what changed from 1998.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BEC01E-5F3E-49C8-8D7D-666AEABA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90700"/>
            <a:ext cx="11125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87D5B2-EB86-4463-B63D-705CEA3E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42813C-97C1-4EFB-B823-C9FCBA01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4955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Working training, evaluation, figure, and demo scripts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FFC5E6-FD58-4881-A856-9255934DB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1051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19FA09-66E2-4C8B-BA9B-5A5FD1222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0099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Final checkpoint and results committed to GitHub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6C37EB-90BC-44F3-ADD9-5480F6D1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1950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3E6DE6-A630-499F-881A-F181F270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2425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98.83% test accuracy with a 61,706-parameter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69281C-0B5D-426A-9EE7-5E4389C3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133850"/>
            <a:ext cx="66675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35"/>
          </a:solidFill>
          <a:ln xmlns:a="http://schemas.openxmlformats.org/drawingml/2006/main" w="0">
            <a:solidFill>
              <a:srgbClr val="FF6B3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DBFC58-E425-40A9-B97D-05C917316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38600"/>
            <a:ext cx="701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A0A0A"/>
                </a:solidFill>
              </a:defRPr>
            </a:pPr>
            <a:r>
              <a:rPr sz="1875" b="0">
                <a:solidFill>
                  <a:srgbClr val="0A0A0A"/>
                </a:solidFill>
              </a:rPr>
              <a:t>Limitations are explicit instead of hidden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E668DB-3B48-4686-93D9-47CDF6F0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571750"/>
            <a:ext cx="200025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ED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2A30D6-0D26-4008-A1FA-65FC952E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956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A0A0A"/>
                </a:solidFill>
              </a:defRPr>
            </a:pPr>
            <a:r>
              <a:rPr sz="2100" b="1">
                <a:solidFill>
                  <a:srgbClr val="0A0A0A"/>
                </a:solidFill>
              </a:rPr>
              <a:t>Takeaway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840892-898A-4E78-9192-0E2E5629A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409950"/>
            <a:ext cx="1333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0A0A0A"/>
                </a:solidFill>
              </a:defRPr>
            </a:pPr>
            <a:r>
              <a:rPr sz="1650" b="0">
                <a:solidFill>
                  <a:srgbClr val="0A0A0A"/>
                </a:solidFill>
              </a:rPr>
              <a:t>LeNet still teaches the core CNN idea clearly.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55205C-168C-4FEF-AC23-6540E5AA5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198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LeNet-5 on MNIST | 13</a:t>
            </a:r>
          </a:p>
        </p:txBody>
      </p:sp>
    </p:spTree>
    <p:extLst>
      <p:ext uri="{BB962C8B-B14F-4D97-AF65-F5344CB8AC3E}">
        <p14:creationId xmlns:p14="http://schemas.microsoft.com/office/powerpoint/2010/main" val="18591989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2026-07-01T13:52:22.1120000Z</dcterms:created>
  <dcterms:modified xsi:type="dcterms:W3CDTF">2026-07-01T13:52:22.1120000Z</dcterms:modified>
</coreProperties>
</file>